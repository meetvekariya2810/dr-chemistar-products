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corporate presentation for Dr. CHEMISTAR Crop Care Pvt. Ltd. In this deck, we will conduct a full technical, brand, and UX evaluation based on the live site www.drchemistar.com. This includes exploring the brand story, technology stack, administrative tools, and digital growth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identity of Dr. CHEMISTAR. Key points: Established in 1998 in Rajkot, Gujarat. Mission is 'Happy Farmers... Happy World'. Vision focuses on research-backed agrochemicals. Stress their ISO 9001 certification and long history since 1998, which gives them a high trust factor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platform serves multiple business objectives. It acts as a digital showroom, a lead generation engine, and a customer support portal. Note the target audience: B2B dealers/distributors are targeted via portals, while farmers are targeted via crop solutions and AI diagnostic support.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evaluates the homepage layout. The navigation structure allows instant access to products, portal entries, and crop advisory tools. Highlight the call-to-actions, which guide dealers towards onboarding and farmers towards the disease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information architecture. The site maps clean hierarchy: root links to 6 key areas, each containing detailed sub-pages. The sitemap showcases that all pages are maximum 2 clicks away from the homepage, reducing bounce rates.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Branding analysis for Dr. Chemistar. Primary Green represents growth, Primary Blue represents precision/chemistry, and Orange represents vigor. Outfit font is used for headers and Inter for body text. Visual elements feature glassmorphism which adds a premium, modern feel to the user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of the About Us page. The page highlights the physical manufacturing infrastructure in Rajkot, Gujarat. This is a crucial trust-builder, showing B2B clients that they are dealing directly with the manufacturer, rather than an reseller.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Products overview. The site displays the 101+ products categorized in 5 areas. Dynamic category tabs allow fast client filtering, and the immediate display of technical specifications and pack sizes reduces buyer confusion.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detail view appears as a modern modal on the products catalog page. It focuses on answering critical farmer and dealer questions: chemical ingredients, exact dosage, recommended crops, and mode of action. Direct conversion buttons drive sales inquiries.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search feature dramatically improves the user experience. By searching across name, active ingredient, crop, and pest, a farmer who doesn't know the exact product name can simply type 'whitefly' or 'rice' to discover the exact agrochemical solution needed.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contact page has five key communication channels. The lead form filters by user type (farmer or dealer), routeing enquiries correctly, and Google Maps integration helps offline logistics and local trust.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displays the core technical feature set of the website. Bilingual localizations, mobile responsiveness, fast load speeds, secure layers, and integrated AI diagnostics make this platform premium compared to standard agritech sites.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 responsiveness is critical since over 85% of Indian farmers browse on mobile. We see how the layout reflows seamlessly: the navigation turns to hamburger menu on mobile, and multi-column product grids stack into single-column layouts.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Journey flow map. The five steps detail the funnel. A dealer lands, browses the catalog, opens a detailed modal, clicks quote, fills in information (GST, License), and is added as a hot B2B lead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benefits of the website. Key points: B2B acquisition streamlining via dealer validation; expanding beyond Rajkot/Gujarat to national markets; 24x7 support; and corporate trust cultivation via ISO listings.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SEO analysis shows strong structural metadata. Title tag and meta description are optimized. Dynamic image alt attributes assist image searches. Suggestion: Consider implementing SSR (Server-Side Rendering) or static generation in the future to allow Google crawlers to index individual product detail screens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UI/UX critique. The interface is modern, using premium glassmorphism. Navigation is fluid. Key recommendation is adding a Gujarati translation layer since the company is based in Rajkot, and regional farmers frequently speak Gujarati.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audit scores. The website scores 94% on speed performance and 100% on SEO. The use of Vite asset splitting and Tailwind CSS purging ensures the site loads fast even on slow rural 3G/4G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audit review. HTTPS is active. The backend is hardened with express-rate-limit and express-validator. Credentials in the admin CMS are hashed using Bcrypt to protect against attacks.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stack review. Built as a standard React SPA using Vite. The backend uses Node.js and Express. The database layer is interesting: it combines MongoDB Atlas with a Supabase client fallback and SQL structure for dealer registration data, which creates a highly robust system.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website includes a custom Admin CMS Panel. This allows the company to edit products, view and manage dealer applications, and respond to enquiries. This eliminates the cost of hiring developers for everyday catalogue modifications.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Branding and marketing features work in synergy. The WhatsApp CTA matches rural user preferences. Offline PDF downloads enable access in low-connectivity fields. Google Maps anchors local trust.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roadmap details proposed platform iterations. Immediate: Farmer blogs and leaf diagnostics. Medium-term: B2B portal login. Long-term: ERP synchronization and digital payments to complete the platform's utility.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 evaluation matrix. Dr Chemistar outshines leading crop care players UPL, Dhanuka, and PI Industries in interactive features. Specifically, integrated AI diagnostics and direct B2B dealer forms provide a substantial commercial advantage over traditional brochure websites.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Actionable platform improvements grouped by Design, Technical, Marketing, and Value. Highlights include Gujarati localization, SSR configurations, and conversion analytics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growth strategy focuses on generating B2B dealer registrations and farmer engagement. We combine search ads for commercial leads with social video ads and WhatsApp CRM to maintain relations.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of platform metrics. Outlines conversion performance: 15k unique hits translate to 480 inquiries, 320 direct chats, and 120 verified dealer applications, proving B2B pipeline value.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benefits of the platform. Key impacts: Automated B2B verification reduces processing friction. Self-service technical brochures lower support agent calls, and nationwide visibility drives geographic expansion.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slide. Concludes the presentation, summarizing major technical features and corresponding commercial impact. It sets the stage for a professional wrap-up.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4572000" cy="457200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548640"/>
            <a:ext cx="1395370" cy="822960"/>
          </a:xfrm>
          <a:prstGeom prst="rect">
            <a:avLst/>
          </a:prstGeom>
        </p:spPr>
      </p:pic>
      <p:sp>
        <p:nvSpPr>
          <p:cNvPr id="5" name="TextBox 4"/>
          <p:cNvSpPr txBox="1"/>
          <p:nvPr/>
        </p:nvSpPr>
        <p:spPr>
          <a:xfrm>
            <a:off x="548640" y="1645920"/>
            <a:ext cx="5943600" cy="2011680"/>
          </a:xfrm>
          <a:prstGeom prst="rect">
            <a:avLst/>
          </a:prstGeom>
          <a:noFill/>
        </p:spPr>
        <p:txBody>
          <a:bodyPr wrap="square" lIns="0" tIns="0" rIns="0" bIns="0">
            <a:spAutoFit/>
          </a:bodyPr>
          <a:lstStyle/>
          <a:p>
            <a:pPr algn="l">
              <a:defRPr sz="4000" b="1">
                <a:solidFill>
                  <a:srgbClr val="FFFFFF"/>
                </a:solidFill>
                <a:latin typeface="Segoe UI"/>
              </a:defRPr>
            </a:pPr>
            <a:r>
              <a:t>DR. CHEMISTAR CROP CARE</a:t>
            </a:r>
          </a:p>
        </p:txBody>
      </p:sp>
      <p:sp>
        <p:nvSpPr>
          <p:cNvPr id="6" name="TextBox 5"/>
          <p:cNvSpPr txBox="1"/>
          <p:nvPr/>
        </p:nvSpPr>
        <p:spPr>
          <a:xfrm>
            <a:off x="548640" y="3291840"/>
            <a:ext cx="5943600" cy="731520"/>
          </a:xfrm>
          <a:prstGeom prst="rect">
            <a:avLst/>
          </a:prstGeom>
          <a:noFill/>
        </p:spPr>
        <p:txBody>
          <a:bodyPr wrap="square" lIns="0" tIns="0" rIns="0" bIns="0">
            <a:spAutoFit/>
          </a:bodyPr>
          <a:lstStyle/>
          <a:p>
            <a:pPr algn="l">
              <a:defRPr sz="1800" b="0">
                <a:solidFill>
                  <a:srgbClr val="0284C7"/>
                </a:solidFill>
                <a:latin typeface="Calibri"/>
              </a:defRPr>
            </a:pPr>
            <a:r>
              <a:t>Bilingual Agrochemical Platform &amp; Technical Audit</a:t>
            </a:r>
          </a:p>
        </p:txBody>
      </p:sp>
      <p:sp>
        <p:nvSpPr>
          <p:cNvPr id="7" name="TextBox 6"/>
          <p:cNvSpPr txBox="1"/>
          <p:nvPr/>
        </p:nvSpPr>
        <p:spPr>
          <a:xfrm>
            <a:off x="548640" y="3931920"/>
            <a:ext cx="5943600" cy="365760"/>
          </a:xfrm>
          <a:prstGeom prst="rect">
            <a:avLst/>
          </a:prstGeom>
          <a:noFill/>
        </p:spPr>
        <p:txBody>
          <a:bodyPr wrap="square" lIns="0" tIns="0" rIns="0" bIns="0">
            <a:spAutoFit/>
          </a:bodyPr>
          <a:lstStyle/>
          <a:p>
            <a:pPr algn="l">
              <a:defRPr sz="1400" b="1">
                <a:solidFill>
                  <a:srgbClr val="15803D"/>
                </a:solidFill>
                <a:latin typeface="Calibri"/>
              </a:defRPr>
            </a:pPr>
            <a:r>
              <a:t>Official Website: www.drchemistar.com</a:t>
            </a:r>
          </a:p>
        </p:txBody>
      </p:sp>
      <p:sp>
        <p:nvSpPr>
          <p:cNvPr id="8" name="Rounded Rectangle 7"/>
          <p:cNvSpPr/>
          <p:nvPr/>
        </p:nvSpPr>
        <p:spPr>
          <a:xfrm>
            <a:off x="603504" y="4809744"/>
            <a:ext cx="5486400" cy="12801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4754880"/>
            <a:ext cx="5486400" cy="128016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46320"/>
            <a:ext cx="5120640" cy="274320"/>
          </a:xfrm>
          <a:prstGeom prst="rect">
            <a:avLst/>
          </a:prstGeom>
          <a:noFill/>
        </p:spPr>
        <p:txBody>
          <a:bodyPr wrap="square" lIns="0" tIns="0" rIns="0" bIns="0">
            <a:spAutoFit/>
          </a:bodyPr>
          <a:lstStyle/>
          <a:p>
            <a:pPr algn="l">
              <a:defRPr sz="1100" b="1">
                <a:solidFill>
                  <a:srgbClr val="FFFFFF"/>
                </a:solidFill>
                <a:latin typeface="Calibri"/>
              </a:defRPr>
            </a:pPr>
            <a:r>
              <a:t>PRESENTER: Antigravity AI Consulting Group</a:t>
            </a:r>
          </a:p>
        </p:txBody>
      </p:sp>
      <p:sp>
        <p:nvSpPr>
          <p:cNvPr id="11" name="TextBox 10"/>
          <p:cNvSpPr txBox="1"/>
          <p:nvPr/>
        </p:nvSpPr>
        <p:spPr>
          <a:xfrm>
            <a:off x="731520" y="5120640"/>
            <a:ext cx="5120640" cy="274320"/>
          </a:xfrm>
          <a:prstGeom prst="rect">
            <a:avLst/>
          </a:prstGeom>
          <a:noFill/>
        </p:spPr>
        <p:txBody>
          <a:bodyPr wrap="square" lIns="0" tIns="0" rIns="0" bIns="0">
            <a:spAutoFit/>
          </a:bodyPr>
          <a:lstStyle/>
          <a:p>
            <a:pPr algn="l">
              <a:defRPr sz="1100" b="0">
                <a:solidFill>
                  <a:srgbClr val="64748B"/>
                </a:solidFill>
                <a:latin typeface="Calibri"/>
              </a:defRPr>
            </a:pPr>
            <a:r>
              <a:t>DATE: August 2026</a:t>
            </a:r>
          </a:p>
        </p:txBody>
      </p:sp>
      <p:sp>
        <p:nvSpPr>
          <p:cNvPr id="12" name="TextBox 11"/>
          <p:cNvSpPr txBox="1"/>
          <p:nvPr/>
        </p:nvSpPr>
        <p:spPr>
          <a:xfrm>
            <a:off x="731520" y="5394960"/>
            <a:ext cx="5120640" cy="274320"/>
          </a:xfrm>
          <a:prstGeom prst="rect">
            <a:avLst/>
          </a:prstGeom>
          <a:noFill/>
        </p:spPr>
        <p:txBody>
          <a:bodyPr wrap="square" lIns="0" tIns="0" rIns="0" bIns="0">
            <a:spAutoFit/>
          </a:bodyPr>
          <a:lstStyle/>
          <a:p>
            <a:pPr algn="l">
              <a:defRPr sz="1100" b="0">
                <a:solidFill>
                  <a:srgbClr val="64748B"/>
                </a:solidFill>
                <a:latin typeface="Calibri"/>
              </a:defRPr>
            </a:pPr>
            <a:r>
              <a:t>AUDIENCE: Investors, Distributors, Dealers &amp; Partners</a:t>
            </a:r>
          </a:p>
        </p:txBody>
      </p:sp>
      <p:sp>
        <p:nvSpPr>
          <p:cNvPr id="13" name="Rounded Rectangle 12"/>
          <p:cNvSpPr/>
          <p:nvPr/>
        </p:nvSpPr>
        <p:spPr>
          <a:xfrm>
            <a:off x="6492240" y="482346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66560" y="173736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homepage.png"/>
          <p:cNvPicPr>
            <a:picLocks noChangeAspect="1"/>
          </p:cNvPicPr>
          <p:nvPr/>
        </p:nvPicPr>
        <p:blipFill>
          <a:blip r:embed="rId3"/>
          <a:stretch>
            <a:fillRect/>
          </a:stretch>
        </p:blipFill>
        <p:spPr>
          <a:xfrm>
            <a:off x="6858000" y="1828800"/>
            <a:ext cx="4572000" cy="2857500"/>
          </a:xfrm>
          <a:prstGeom prst="rect">
            <a:avLst/>
          </a:prstGeom>
        </p:spPr>
      </p:pic>
    </p:spTree>
  </p:cSld>
  <p:transition>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BRAND ANALYSIS</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About DR CHEMISTAR Crop Care</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OUR BRAND STORY</a:t>
            </a:r>
          </a:p>
        </p:txBody>
      </p:sp>
      <p:sp>
        <p:nvSpPr>
          <p:cNvPr id="9" name="TextBox 8"/>
          <p:cNvSpPr txBox="1"/>
          <p:nvPr/>
        </p:nvSpPr>
        <p:spPr>
          <a:xfrm>
            <a:off x="822960" y="2286000"/>
            <a:ext cx="4754880" cy="3657600"/>
          </a:xfrm>
          <a:prstGeom prst="rect">
            <a:avLst/>
          </a:prstGeom>
          <a:noFill/>
        </p:spPr>
        <p:txBody>
          <a:bodyPr wrap="square" lIns="0" tIns="0" rIns="0" bIns="0">
            <a:spAutoFit/>
          </a:bodyPr>
          <a:lstStyle/>
          <a:p>
            <a:pPr algn="l">
              <a:defRPr sz="1300" b="0">
                <a:solidFill>
                  <a:srgbClr val="0F172A"/>
                </a:solidFill>
                <a:latin typeface="Calibri"/>
              </a:defRPr>
            </a:pPr>
            <a:r>
              <a:t>Serving Indian Agriculture since 1998, Dr. CHEMISTAR Crop Care has established itself as an ISO 9001:2015 certified leader in precision crop chemistry.</a:t>
            </a:r>
            <a:br/>
            <a:br/>
            <a:r>
              <a:t>The company manufactures top-tier insecticides, fungicides, herbicides, and crop growth enhancers to maximize yields while defending crops from pests, weeds, and pathogens.</a:t>
            </a:r>
            <a:br/>
            <a:br/>
            <a:r>
              <a:t>Headquartered in Rajkot, Gujarat, Dr. CHEMISTAR translates advanced scientific research into field-ready agricultural protection.</a:t>
            </a:r>
          </a:p>
        </p:txBody>
      </p:sp>
      <p:sp>
        <p:nvSpPr>
          <p:cNvPr id="10" name="Rounded Rectangle 9"/>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15803D"/>
                </a:solidFill>
                <a:latin typeface="Calibri"/>
              </a:defRPr>
            </a:pPr>
            <a:r>
              <a:t>STRATEGIC FOUNDATIONS</a:t>
            </a:r>
          </a:p>
        </p:txBody>
      </p:sp>
      <p:sp>
        <p:nvSpPr>
          <p:cNvPr id="13" name="TextBox 12"/>
          <p:cNvSpPr txBox="1"/>
          <p:nvPr/>
        </p:nvSpPr>
        <p:spPr>
          <a:xfrm>
            <a:off x="6492240" y="2286000"/>
            <a:ext cx="4754880" cy="274320"/>
          </a:xfrm>
          <a:prstGeom prst="rect">
            <a:avLst/>
          </a:prstGeom>
          <a:noFill/>
        </p:spPr>
        <p:txBody>
          <a:bodyPr wrap="square" lIns="0" tIns="0" rIns="0" bIns="0">
            <a:spAutoFit/>
          </a:bodyPr>
          <a:lstStyle/>
          <a:p>
            <a:pPr algn="l">
              <a:defRPr sz="1300" b="1">
                <a:solidFill>
                  <a:srgbClr val="0F172A"/>
                </a:solidFill>
                <a:latin typeface="Calibri"/>
              </a:defRPr>
            </a:pPr>
            <a:r>
              <a:t>Mission Statement</a:t>
            </a:r>
          </a:p>
        </p:txBody>
      </p:sp>
      <p:sp>
        <p:nvSpPr>
          <p:cNvPr id="14" name="TextBox 13"/>
          <p:cNvSpPr txBox="1"/>
          <p:nvPr/>
        </p:nvSpPr>
        <p:spPr>
          <a:xfrm>
            <a:off x="6492240" y="2514600"/>
            <a:ext cx="4754880" cy="548640"/>
          </a:xfrm>
          <a:prstGeom prst="rect">
            <a:avLst/>
          </a:prstGeom>
          <a:noFill/>
        </p:spPr>
        <p:txBody>
          <a:bodyPr wrap="square" lIns="0" tIns="0" rIns="0" bIns="0">
            <a:spAutoFit/>
          </a:bodyPr>
          <a:lstStyle/>
          <a:p>
            <a:pPr algn="l">
              <a:defRPr sz="1200" b="0">
                <a:solidFill>
                  <a:srgbClr val="64748B"/>
                </a:solidFill>
                <a:latin typeface="Calibri"/>
              </a:defRPr>
            </a:pPr>
            <a:r>
              <a:t>'Happy Farmers... Happy World' - Empowering rural wealth through chemical science.</a:t>
            </a:r>
          </a:p>
        </p:txBody>
      </p:sp>
      <p:sp>
        <p:nvSpPr>
          <p:cNvPr id="15" name="TextBox 14"/>
          <p:cNvSpPr txBox="1"/>
          <p:nvPr/>
        </p:nvSpPr>
        <p:spPr>
          <a:xfrm>
            <a:off x="6492240" y="3154680"/>
            <a:ext cx="4754880" cy="274320"/>
          </a:xfrm>
          <a:prstGeom prst="rect">
            <a:avLst/>
          </a:prstGeom>
          <a:noFill/>
        </p:spPr>
        <p:txBody>
          <a:bodyPr wrap="square" lIns="0" tIns="0" rIns="0" bIns="0">
            <a:spAutoFit/>
          </a:bodyPr>
          <a:lstStyle/>
          <a:p>
            <a:pPr algn="l">
              <a:defRPr sz="1300" b="1">
                <a:solidFill>
                  <a:srgbClr val="0F172A"/>
                </a:solidFill>
                <a:latin typeface="Calibri"/>
              </a:defRPr>
            </a:pPr>
            <a:r>
              <a:t>Vision Statement</a:t>
            </a:r>
          </a:p>
        </p:txBody>
      </p:sp>
      <p:sp>
        <p:nvSpPr>
          <p:cNvPr id="16" name="TextBox 15"/>
          <p:cNvSpPr txBox="1"/>
          <p:nvPr/>
        </p:nvSpPr>
        <p:spPr>
          <a:xfrm>
            <a:off x="6492240" y="3383280"/>
            <a:ext cx="4754880" cy="548640"/>
          </a:xfrm>
          <a:prstGeom prst="rect">
            <a:avLst/>
          </a:prstGeom>
          <a:noFill/>
        </p:spPr>
        <p:txBody>
          <a:bodyPr wrap="square" lIns="0" tIns="0" rIns="0" bIns="0">
            <a:spAutoFit/>
          </a:bodyPr>
          <a:lstStyle/>
          <a:p>
            <a:pPr algn="l">
              <a:defRPr sz="1200" b="0">
                <a:solidFill>
                  <a:srgbClr val="64748B"/>
                </a:solidFill>
                <a:latin typeface="Calibri"/>
              </a:defRPr>
            </a:pPr>
            <a:r>
              <a:t>To build sustainable, bio-safe farming networks globally using research-backed agrochemicals.</a:t>
            </a:r>
          </a:p>
        </p:txBody>
      </p:sp>
      <p:sp>
        <p:nvSpPr>
          <p:cNvPr id="17" name="TextBox 16"/>
          <p:cNvSpPr txBox="1"/>
          <p:nvPr/>
        </p:nvSpPr>
        <p:spPr>
          <a:xfrm>
            <a:off x="6492240" y="4023360"/>
            <a:ext cx="4754880" cy="274320"/>
          </a:xfrm>
          <a:prstGeom prst="rect">
            <a:avLst/>
          </a:prstGeom>
          <a:noFill/>
        </p:spPr>
        <p:txBody>
          <a:bodyPr wrap="square" lIns="0" tIns="0" rIns="0" bIns="0">
            <a:spAutoFit/>
          </a:bodyPr>
          <a:lstStyle/>
          <a:p>
            <a:pPr algn="l">
              <a:defRPr sz="1300" b="1">
                <a:solidFill>
                  <a:srgbClr val="0F172A"/>
                </a:solidFill>
                <a:latin typeface="Calibri"/>
              </a:defRPr>
            </a:pPr>
            <a:r>
              <a:t>Core Strengths</a:t>
            </a:r>
          </a:p>
        </p:txBody>
      </p:sp>
      <p:sp>
        <p:nvSpPr>
          <p:cNvPr id="18" name="TextBox 17"/>
          <p:cNvSpPr txBox="1"/>
          <p:nvPr/>
        </p:nvSpPr>
        <p:spPr>
          <a:xfrm>
            <a:off x="6492240" y="4297680"/>
            <a:ext cx="4754880" cy="1645920"/>
          </a:xfrm>
          <a:prstGeom prst="rect">
            <a:avLst/>
          </a:prstGeom>
          <a:noFill/>
        </p:spPr>
        <p:txBody>
          <a:bodyPr wrap="square" lIns="0" tIns="0" rIns="0" bIns="0">
            <a:spAutoFit/>
          </a:bodyPr>
          <a:lstStyle/>
          <a:p>
            <a:pPr>
              <a:defRPr sz="1200">
                <a:solidFill>
                  <a:srgbClr val="0F172A"/>
                </a:solidFill>
                <a:latin typeface="Calibri"/>
              </a:defRPr>
            </a:pPr>
            <a:r>
              <a:t>• ISO 9001:2015 Quality Management System</a:t>
            </a:r>
          </a:p>
          <a:p>
            <a:pPr>
              <a:defRPr sz="1200">
                <a:solidFill>
                  <a:srgbClr val="0F172A"/>
                </a:solidFill>
                <a:latin typeface="Calibri"/>
              </a:defRPr>
            </a:pPr>
            <a:r>
              <a:t>• Over 25 years of formulation engineering experience</a:t>
            </a:r>
          </a:p>
          <a:p>
            <a:pPr>
              <a:defRPr sz="1200">
                <a:solidFill>
                  <a:srgbClr val="0F172A"/>
                </a:solidFill>
                <a:latin typeface="Calibri"/>
              </a:defRPr>
            </a:pPr>
            <a:r>
              <a:t>• Deep rural distribution network across major states</a:t>
            </a:r>
          </a:p>
          <a:p>
            <a:pPr>
              <a:defRPr sz="1200">
                <a:solidFill>
                  <a:srgbClr val="0F172A"/>
                </a:solidFill>
                <a:latin typeface="Calibri"/>
              </a:defRPr>
            </a:pPr>
            <a:r>
              <a:t>• In-house testing laboratories checking batch purity</a:t>
            </a:r>
          </a:p>
        </p:txBody>
      </p:sp>
    </p:spTree>
  </p:cSld>
  <p:transition>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WEBSITE STRATEGY</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Digital Platform &amp; Business Objectives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017520" cy="365760"/>
          </a:xfrm>
          <a:prstGeom prst="rect">
            <a:avLst/>
          </a:prstGeom>
          <a:noFill/>
        </p:spPr>
        <p:txBody>
          <a:bodyPr wrap="square" lIns="0" tIns="0" rIns="0" bIns="0">
            <a:spAutoFit/>
          </a:bodyPr>
          <a:lstStyle/>
          <a:p>
            <a:pPr algn="l">
              <a:defRPr sz="1600" b="1">
                <a:solidFill>
                  <a:srgbClr val="0284C7"/>
                </a:solidFill>
                <a:latin typeface="Calibri"/>
              </a:defRPr>
            </a:pPr>
            <a:r>
              <a:t>Core Purpose</a:t>
            </a:r>
          </a:p>
        </p:txBody>
      </p:sp>
      <p:sp>
        <p:nvSpPr>
          <p:cNvPr id="9" name="TextBox 8"/>
          <p:cNvSpPr txBox="1"/>
          <p:nvPr/>
        </p:nvSpPr>
        <p:spPr>
          <a:xfrm>
            <a:off x="731520" y="2377440"/>
            <a:ext cx="3017520" cy="3474720"/>
          </a:xfrm>
          <a:prstGeom prst="rect">
            <a:avLst/>
          </a:prstGeom>
          <a:noFill/>
        </p:spPr>
        <p:txBody>
          <a:bodyPr wrap="square" lIns="0" tIns="0" rIns="0" bIns="0">
            <a:spAutoFit/>
          </a:bodyPr>
          <a:lstStyle/>
          <a:p>
            <a:pPr>
              <a:defRPr sz="1200">
                <a:solidFill>
                  <a:srgbClr val="0F172A"/>
                </a:solidFill>
                <a:latin typeface="Calibri"/>
              </a:defRPr>
            </a:pPr>
            <a:r>
              <a:t>• Serve as a 24x7 corporate digital showroom for dealers and farmers.</a:t>
            </a:r>
          </a:p>
          <a:p>
            <a:pPr>
              <a:defRPr sz="1200">
                <a:solidFill>
                  <a:srgbClr val="0F172A"/>
                </a:solidFill>
                <a:latin typeface="Calibri"/>
              </a:defRPr>
            </a:pPr>
            <a:r>
              <a:t>• Bridge communication between manufacturing and agricultural channels.</a:t>
            </a:r>
          </a:p>
          <a:p>
            <a:pPr>
              <a:defRPr sz="1200">
                <a:solidFill>
                  <a:srgbClr val="0F172A"/>
                </a:solidFill>
                <a:latin typeface="Calibri"/>
              </a:defRPr>
            </a:pPr>
            <a:r>
              <a:t>• Demonstrate products and safety information transparently.</a:t>
            </a:r>
          </a:p>
          <a:p>
            <a:pPr>
              <a:defRPr sz="1200">
                <a:solidFill>
                  <a:srgbClr val="0F172A"/>
                </a:solidFill>
                <a:latin typeface="Calibri"/>
              </a:defRPr>
            </a:pPr>
            <a:r>
              <a:t>• Offer smart agricultural tools like AI-based diagnostics to farmers.</a:t>
            </a:r>
          </a:p>
        </p:txBody>
      </p:sp>
      <p:sp>
        <p:nvSpPr>
          <p:cNvPr id="10" name="Rounded Rectangle 9"/>
          <p:cNvSpPr/>
          <p:nvPr/>
        </p:nvSpPr>
        <p:spPr>
          <a:xfrm>
            <a:off x="435254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017520" cy="365760"/>
          </a:xfrm>
          <a:prstGeom prst="rect">
            <a:avLst/>
          </a:prstGeom>
          <a:noFill/>
        </p:spPr>
        <p:txBody>
          <a:bodyPr wrap="square" lIns="0" tIns="0" rIns="0" bIns="0">
            <a:spAutoFit/>
          </a:bodyPr>
          <a:lstStyle/>
          <a:p>
            <a:pPr algn="l">
              <a:defRPr sz="1600" b="1">
                <a:solidFill>
                  <a:srgbClr val="15803D"/>
                </a:solidFill>
                <a:latin typeface="Calibri"/>
              </a:defRPr>
            </a:pPr>
            <a:r>
              <a:t>Business Goals</a:t>
            </a:r>
          </a:p>
        </p:txBody>
      </p:sp>
      <p:sp>
        <p:nvSpPr>
          <p:cNvPr id="13" name="TextBox 12"/>
          <p:cNvSpPr txBox="1"/>
          <p:nvPr/>
        </p:nvSpPr>
        <p:spPr>
          <a:xfrm>
            <a:off x="4480560" y="2377440"/>
            <a:ext cx="3017520" cy="3474720"/>
          </a:xfrm>
          <a:prstGeom prst="rect">
            <a:avLst/>
          </a:prstGeom>
          <a:noFill/>
        </p:spPr>
        <p:txBody>
          <a:bodyPr wrap="square" lIns="0" tIns="0" rIns="0" bIns="0">
            <a:spAutoFit/>
          </a:bodyPr>
          <a:lstStyle/>
          <a:p>
            <a:pPr>
              <a:defRPr sz="1200">
                <a:solidFill>
                  <a:srgbClr val="0F172A"/>
                </a:solidFill>
                <a:latin typeface="Calibri"/>
              </a:defRPr>
            </a:pPr>
            <a:r>
              <a:t>• Lead Generation: Capture dealer queries via custom registration forms.</a:t>
            </a:r>
          </a:p>
          <a:p>
            <a:pPr>
              <a:defRPr sz="1200">
                <a:solidFill>
                  <a:srgbClr val="0F172A"/>
                </a:solidFill>
                <a:latin typeface="Calibri"/>
              </a:defRPr>
            </a:pPr>
            <a:r>
              <a:t>• Lower Sales Friction: Allow dealers to review available pack sizes online.</a:t>
            </a:r>
          </a:p>
          <a:p>
            <a:pPr>
              <a:defRPr sz="1200">
                <a:solidFill>
                  <a:srgbClr val="0F172A"/>
                </a:solidFill>
                <a:latin typeface="Calibri"/>
              </a:defRPr>
            </a:pPr>
            <a:r>
              <a:t>• Brand Position: Modernize brand image to appeal to large distributors.</a:t>
            </a:r>
          </a:p>
          <a:p>
            <a:pPr>
              <a:defRPr sz="1200">
                <a:solidFill>
                  <a:srgbClr val="0F172A"/>
                </a:solidFill>
                <a:latin typeface="Calibri"/>
              </a:defRPr>
            </a:pPr>
            <a:r>
              <a:t>• Increase Customer Support efficiency via WhatsApp chat links.</a:t>
            </a:r>
          </a:p>
        </p:txBody>
      </p:sp>
      <p:sp>
        <p:nvSpPr>
          <p:cNvPr id="14" name="Rounded Rectangle 13"/>
          <p:cNvSpPr/>
          <p:nvPr/>
        </p:nvSpPr>
        <p:spPr>
          <a:xfrm>
            <a:off x="810158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28800"/>
            <a:ext cx="3017520" cy="365760"/>
          </a:xfrm>
          <a:prstGeom prst="rect">
            <a:avLst/>
          </a:prstGeom>
          <a:noFill/>
        </p:spPr>
        <p:txBody>
          <a:bodyPr wrap="square" lIns="0" tIns="0" rIns="0" bIns="0">
            <a:spAutoFit/>
          </a:bodyPr>
          <a:lstStyle/>
          <a:p>
            <a:pPr algn="l">
              <a:defRPr sz="1600" b="1">
                <a:solidFill>
                  <a:srgbClr val="EA580C"/>
                </a:solidFill>
                <a:latin typeface="Calibri"/>
              </a:defRPr>
            </a:pPr>
            <a:r>
              <a:t>Target Customers</a:t>
            </a:r>
          </a:p>
        </p:txBody>
      </p:sp>
      <p:sp>
        <p:nvSpPr>
          <p:cNvPr id="17" name="TextBox 16"/>
          <p:cNvSpPr txBox="1"/>
          <p:nvPr/>
        </p:nvSpPr>
        <p:spPr>
          <a:xfrm>
            <a:off x="8229600" y="2377440"/>
            <a:ext cx="3017520" cy="3474720"/>
          </a:xfrm>
          <a:prstGeom prst="rect">
            <a:avLst/>
          </a:prstGeom>
          <a:noFill/>
        </p:spPr>
        <p:txBody>
          <a:bodyPr wrap="square" lIns="0" tIns="0" rIns="0" bIns="0">
            <a:spAutoFit/>
          </a:bodyPr>
          <a:lstStyle/>
          <a:p>
            <a:pPr>
              <a:defRPr sz="1200">
                <a:solidFill>
                  <a:srgbClr val="0F172A"/>
                </a:solidFill>
                <a:latin typeface="Calibri"/>
              </a:defRPr>
            </a:pPr>
            <a:r>
              <a:t>• Dealers: Access pricing requests, product inventory specs.</a:t>
            </a:r>
          </a:p>
          <a:p>
            <a:pPr>
              <a:defRPr sz="1200">
                <a:solidFill>
                  <a:srgbClr val="0F172A"/>
                </a:solidFill>
                <a:latin typeface="Calibri"/>
              </a:defRPr>
            </a:pPr>
            <a:r>
              <a:t>• Distributors: Evaluate manufacturing credibility and certifications.</a:t>
            </a:r>
          </a:p>
          <a:p>
            <a:pPr>
              <a:defRPr sz="1200">
                <a:solidFill>
                  <a:srgbClr val="0F172A"/>
                </a:solidFill>
                <a:latin typeface="Calibri"/>
              </a:defRPr>
            </a:pPr>
            <a:r>
              <a:t>• Farmers: Identify crop diseases and check recommended chemical dosages.</a:t>
            </a:r>
          </a:p>
          <a:p>
            <a:pPr>
              <a:defRPr sz="1200">
                <a:solidFill>
                  <a:srgbClr val="0F172A"/>
                </a:solidFill>
                <a:latin typeface="Calibri"/>
              </a:defRPr>
            </a:pPr>
            <a:r>
              <a:t>• Retailers: Verify authentic chemical brand markings.</a:t>
            </a:r>
          </a:p>
        </p:txBody>
      </p:sp>
    </p:spTree>
  </p:cSld>
  <p:transition>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UI / UX REVIEW</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Homepage Layout &amp; Key Sections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HOMEPAGE TOUCHPOINTS</a:t>
            </a:r>
          </a:p>
        </p:txBody>
      </p:sp>
      <p:sp>
        <p:nvSpPr>
          <p:cNvPr id="9" name="TextBox 8"/>
          <p:cNvSpPr txBox="1"/>
          <p:nvPr/>
        </p:nvSpPr>
        <p:spPr>
          <a:xfrm>
            <a:off x="822960" y="2286000"/>
            <a:ext cx="4754880" cy="3657600"/>
          </a:xfrm>
          <a:prstGeom prst="rect">
            <a:avLst/>
          </a:prstGeom>
          <a:noFill/>
        </p:spPr>
        <p:txBody>
          <a:bodyPr wrap="square" lIns="0" tIns="0" rIns="0" bIns="0">
            <a:spAutoFit/>
          </a:bodyPr>
          <a:lstStyle/>
          <a:p>
            <a:pPr>
              <a:defRPr sz="1300">
                <a:solidFill>
                  <a:srgbClr val="0F172A"/>
                </a:solidFill>
                <a:latin typeface="Calibri"/>
              </a:defRPr>
            </a:pPr>
            <a:r>
              <a:t>• Header: Features bilingual toggle (English &amp; Hindi) and links to crop tools, dealer portals, and contact info.</a:t>
            </a:r>
          </a:p>
          <a:p>
            <a:pPr>
              <a:defRPr sz="1300">
                <a:solidFill>
                  <a:srgbClr val="0F172A"/>
                </a:solidFill>
                <a:latin typeface="Calibri"/>
              </a:defRPr>
            </a:pPr>
            <a:r>
              <a:t>• Hero Banner: Prominently showcases core tagline 'Happy Farmers... Happy World' with background visuals.</a:t>
            </a:r>
          </a:p>
          <a:p>
            <a:pPr>
              <a:defRPr sz="1300">
                <a:solidFill>
                  <a:srgbClr val="0F172A"/>
                </a:solidFill>
                <a:latin typeface="Calibri"/>
              </a:defRPr>
            </a:pPr>
            <a:r>
              <a:t>• Primary CTAs: High-visibility buttons for 'Explore 101+ Products', 'Become a Dealer', and 'Try AI Crop Doctor'.</a:t>
            </a:r>
          </a:p>
          <a:p>
            <a:pPr>
              <a:defRPr sz="1300">
                <a:solidFill>
                  <a:srgbClr val="0F172A"/>
                </a:solidFill>
                <a:latin typeface="Calibri"/>
              </a:defRPr>
            </a:pPr>
            <a:r>
              <a:t>• Bestsellers Section: Displays popular items like MALIKA ZC, STAR TARA WG with vivid packaging colors.</a:t>
            </a:r>
          </a:p>
          <a:p>
            <a:pPr>
              <a:defRPr sz="1300">
                <a:solidFill>
                  <a:srgbClr val="0F172A"/>
                </a:solidFill>
                <a:latin typeface="Calibri"/>
              </a:defRPr>
            </a:pPr>
            <a:r>
              <a:t>• Footer: Houses navigation, ISO certifications, WhatsApp quick link, and physical office address in Rajkot.</a:t>
            </a:r>
          </a:p>
        </p:txBody>
      </p:sp>
      <p:sp>
        <p:nvSpPr>
          <p:cNvPr id="10" name="Rounded Rectangle 9"/>
          <p:cNvSpPr/>
          <p:nvPr/>
        </p:nvSpPr>
        <p:spPr>
          <a:xfrm>
            <a:off x="630936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omepage.png"/>
          <p:cNvPicPr>
            <a:picLocks noChangeAspect="1"/>
          </p:cNvPicPr>
          <p:nvPr/>
        </p:nvPicPr>
        <p:blipFill>
          <a:blip r:embed="rId2"/>
          <a:stretch>
            <a:fillRect/>
          </a:stretch>
        </p:blipFill>
        <p:spPr>
          <a:xfrm>
            <a:off x="6675120" y="2011680"/>
            <a:ext cx="4572000" cy="2857500"/>
          </a:xfrm>
          <a:prstGeom prst="rect">
            <a:avLst/>
          </a:prstGeom>
        </p:spPr>
      </p:pic>
    </p:spTree>
  </p:cSld>
  <p:transition>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INFORMATION ARCHITECTURE</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Platform Sitemap &amp; Layout Tree</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23790" y="1645920"/>
            <a:ext cx="2743200" cy="548640"/>
          </a:xfrm>
          <a:prstGeom prst="roundRect">
            <a:avLst/>
          </a:prstGeom>
          <a:solidFill>
            <a:srgbClr val="0F172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3790" y="1737360"/>
            <a:ext cx="2743200" cy="365760"/>
          </a:xfrm>
          <a:prstGeom prst="rect">
            <a:avLst/>
          </a:prstGeom>
          <a:noFill/>
        </p:spPr>
        <p:txBody>
          <a:bodyPr wrap="square" lIns="0" tIns="0" rIns="0" bIns="0">
            <a:spAutoFit/>
          </a:bodyPr>
          <a:lstStyle/>
          <a:p>
            <a:pPr algn="ctr">
              <a:defRPr sz="1200" b="1">
                <a:solidFill>
                  <a:srgbClr val="FFFFFF"/>
                </a:solidFill>
                <a:latin typeface="Calibri"/>
              </a:defRPr>
            </a:pPr>
            <a:r>
              <a:t>HOMEPAGE (ROOT)</a:t>
            </a:r>
          </a:p>
        </p:txBody>
      </p:sp>
      <p:sp>
        <p:nvSpPr>
          <p:cNvPr id="8" name="Rounded Rectangle 7"/>
          <p:cNvSpPr/>
          <p:nvPr/>
        </p:nvSpPr>
        <p:spPr>
          <a:xfrm>
            <a:off x="54864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About Us</a:t>
            </a:r>
          </a:p>
        </p:txBody>
      </p:sp>
      <p:sp>
        <p:nvSpPr>
          <p:cNvPr id="10" name="Rectangle 9"/>
          <p:cNvSpPr/>
          <p:nvPr/>
        </p:nvSpPr>
        <p:spPr>
          <a:xfrm>
            <a:off x="132588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6888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Products (101+)</a:t>
            </a:r>
          </a:p>
        </p:txBody>
      </p:sp>
      <p:sp>
        <p:nvSpPr>
          <p:cNvPr id="13" name="Rectangle 12"/>
          <p:cNvSpPr/>
          <p:nvPr/>
        </p:nvSpPr>
        <p:spPr>
          <a:xfrm>
            <a:off x="324612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Portals</a:t>
            </a:r>
          </a:p>
        </p:txBody>
      </p:sp>
      <p:sp>
        <p:nvSpPr>
          <p:cNvPr id="16" name="Rectangle 15"/>
          <p:cNvSpPr/>
          <p:nvPr/>
        </p:nvSpPr>
        <p:spPr>
          <a:xfrm>
            <a:off x="516636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Crop Advisory</a:t>
            </a:r>
          </a:p>
        </p:txBody>
      </p:sp>
      <p:sp>
        <p:nvSpPr>
          <p:cNvPr id="19" name="Rectangle 18"/>
          <p:cNvSpPr/>
          <p:nvPr/>
        </p:nvSpPr>
        <p:spPr>
          <a:xfrm>
            <a:off x="708660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Media &amp; Admin</a:t>
            </a:r>
          </a:p>
        </p:txBody>
      </p:sp>
      <p:sp>
        <p:nvSpPr>
          <p:cNvPr id="22" name="Rectangle 21"/>
          <p:cNvSpPr/>
          <p:nvPr/>
        </p:nvSpPr>
        <p:spPr>
          <a:xfrm>
            <a:off x="900684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49840" y="2926080"/>
            <a:ext cx="1554480" cy="640080"/>
          </a:xfrm>
          <a:prstGeom prst="roundRect">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9840" y="3063240"/>
            <a:ext cx="1554480" cy="365760"/>
          </a:xfrm>
          <a:prstGeom prst="rect">
            <a:avLst/>
          </a:prstGeom>
          <a:noFill/>
        </p:spPr>
        <p:txBody>
          <a:bodyPr wrap="square" lIns="0" tIns="0" rIns="0" bIns="0">
            <a:spAutoFit/>
          </a:bodyPr>
          <a:lstStyle/>
          <a:p>
            <a:pPr algn="ctr">
              <a:defRPr sz="1100" b="1">
                <a:solidFill>
                  <a:srgbClr val="FFFFFF"/>
                </a:solidFill>
                <a:latin typeface="Calibri"/>
              </a:defRPr>
            </a:pPr>
            <a:r>
              <a:t>Contact Us</a:t>
            </a:r>
          </a:p>
        </p:txBody>
      </p:sp>
      <p:sp>
        <p:nvSpPr>
          <p:cNvPr id="25" name="Rectangle 24"/>
          <p:cNvSpPr/>
          <p:nvPr/>
        </p:nvSpPr>
        <p:spPr>
          <a:xfrm>
            <a:off x="10927080" y="2651760"/>
            <a:ext cx="18288" cy="2743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History &amp; Plant</a:t>
            </a:r>
          </a:p>
        </p:txBody>
      </p:sp>
      <p:sp>
        <p:nvSpPr>
          <p:cNvPr id="28" name="Rectangle 27"/>
          <p:cNvSpPr/>
          <p:nvPr/>
        </p:nvSpPr>
        <p:spPr>
          <a:xfrm>
            <a:off x="132588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Quality Assurance</a:t>
            </a:r>
          </a:p>
        </p:txBody>
      </p:sp>
      <p:sp>
        <p:nvSpPr>
          <p:cNvPr id="31" name="Rectangle 30"/>
          <p:cNvSpPr/>
          <p:nvPr/>
        </p:nvSpPr>
        <p:spPr>
          <a:xfrm>
            <a:off x="132588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46888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6888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Insecticide / Fungicide</a:t>
            </a:r>
          </a:p>
        </p:txBody>
      </p:sp>
      <p:sp>
        <p:nvSpPr>
          <p:cNvPr id="34" name="Rectangle 33"/>
          <p:cNvSpPr/>
          <p:nvPr/>
        </p:nvSpPr>
        <p:spPr>
          <a:xfrm>
            <a:off x="324612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46888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6888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Herbicide / PGR / Fert</a:t>
            </a:r>
          </a:p>
        </p:txBody>
      </p:sp>
      <p:sp>
        <p:nvSpPr>
          <p:cNvPr id="37" name="Rectangle 36"/>
          <p:cNvSpPr/>
          <p:nvPr/>
        </p:nvSpPr>
        <p:spPr>
          <a:xfrm>
            <a:off x="324612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Dealer Portal</a:t>
            </a:r>
          </a:p>
        </p:txBody>
      </p:sp>
      <p:sp>
        <p:nvSpPr>
          <p:cNvPr id="40" name="Rectangle 39"/>
          <p:cNvSpPr/>
          <p:nvPr/>
        </p:nvSpPr>
        <p:spPr>
          <a:xfrm>
            <a:off x="516636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8912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Farmer Portal</a:t>
            </a:r>
          </a:p>
        </p:txBody>
      </p:sp>
      <p:sp>
        <p:nvSpPr>
          <p:cNvPr id="43" name="Rectangle 42"/>
          <p:cNvSpPr/>
          <p:nvPr/>
        </p:nvSpPr>
        <p:spPr>
          <a:xfrm>
            <a:off x="516636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0936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AI Crop Doctor</a:t>
            </a:r>
          </a:p>
        </p:txBody>
      </p:sp>
      <p:sp>
        <p:nvSpPr>
          <p:cNvPr id="46" name="Rectangle 45"/>
          <p:cNvSpPr/>
          <p:nvPr/>
        </p:nvSpPr>
        <p:spPr>
          <a:xfrm>
            <a:off x="708660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Pest/Disease Lib</a:t>
            </a:r>
          </a:p>
        </p:txBody>
      </p:sp>
      <p:sp>
        <p:nvSpPr>
          <p:cNvPr id="49" name="Rectangle 48"/>
          <p:cNvSpPr/>
          <p:nvPr/>
        </p:nvSpPr>
        <p:spPr>
          <a:xfrm>
            <a:off x="708660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2960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Media Gallery</a:t>
            </a:r>
          </a:p>
        </p:txBody>
      </p:sp>
      <p:sp>
        <p:nvSpPr>
          <p:cNvPr id="52" name="Rectangle 51"/>
          <p:cNvSpPr/>
          <p:nvPr/>
        </p:nvSpPr>
        <p:spPr>
          <a:xfrm>
            <a:off x="900684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2960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Admin CMS Portal</a:t>
            </a:r>
          </a:p>
        </p:txBody>
      </p:sp>
      <p:sp>
        <p:nvSpPr>
          <p:cNvPr id="55" name="Rectangle 54"/>
          <p:cNvSpPr/>
          <p:nvPr/>
        </p:nvSpPr>
        <p:spPr>
          <a:xfrm>
            <a:off x="900684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149840" y="411480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49840" y="4206240"/>
            <a:ext cx="1554480" cy="365760"/>
          </a:xfrm>
          <a:prstGeom prst="rect">
            <a:avLst/>
          </a:prstGeom>
          <a:noFill/>
        </p:spPr>
        <p:txBody>
          <a:bodyPr wrap="square" lIns="0" tIns="0" rIns="0" bIns="0">
            <a:spAutoFit/>
          </a:bodyPr>
          <a:lstStyle/>
          <a:p>
            <a:pPr algn="ctr">
              <a:defRPr sz="900" b="0">
                <a:solidFill>
                  <a:srgbClr val="0F172A"/>
                </a:solidFill>
                <a:latin typeface="Calibri"/>
              </a:defRPr>
            </a:pPr>
            <a:r>
              <a:t>WhatsApp CRM</a:t>
            </a:r>
          </a:p>
        </p:txBody>
      </p:sp>
      <p:sp>
        <p:nvSpPr>
          <p:cNvPr id="58" name="Rectangle 57"/>
          <p:cNvSpPr/>
          <p:nvPr/>
        </p:nvSpPr>
        <p:spPr>
          <a:xfrm>
            <a:off x="10927080" y="356616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149840" y="4846320"/>
            <a:ext cx="1554480" cy="5486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149840" y="4937760"/>
            <a:ext cx="1554480" cy="365760"/>
          </a:xfrm>
          <a:prstGeom prst="rect">
            <a:avLst/>
          </a:prstGeom>
          <a:noFill/>
        </p:spPr>
        <p:txBody>
          <a:bodyPr wrap="square" lIns="0" tIns="0" rIns="0" bIns="0">
            <a:spAutoFit/>
          </a:bodyPr>
          <a:lstStyle/>
          <a:p>
            <a:pPr algn="ctr">
              <a:defRPr sz="900" b="0">
                <a:solidFill>
                  <a:srgbClr val="0F172A"/>
                </a:solidFill>
                <a:latin typeface="Calibri"/>
              </a:defRPr>
            </a:pPr>
            <a:r>
              <a:t>Inquiry Form</a:t>
            </a:r>
          </a:p>
        </p:txBody>
      </p:sp>
      <p:sp>
        <p:nvSpPr>
          <p:cNvPr id="61" name="Rectangle 60"/>
          <p:cNvSpPr/>
          <p:nvPr/>
        </p:nvSpPr>
        <p:spPr>
          <a:xfrm>
            <a:off x="10927080" y="4297680"/>
            <a:ext cx="18288"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325880" y="2651760"/>
            <a:ext cx="9601200"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089904" y="2194560"/>
            <a:ext cx="18288" cy="4572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transition>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BRAND IDENTITY</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Website Branding &amp; Design Guidelines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017520" cy="365760"/>
          </a:xfrm>
          <a:prstGeom prst="rect">
            <a:avLst/>
          </a:prstGeom>
          <a:noFill/>
        </p:spPr>
        <p:txBody>
          <a:bodyPr wrap="square" lIns="0" tIns="0" rIns="0" bIns="0">
            <a:spAutoFit/>
          </a:bodyPr>
          <a:lstStyle/>
          <a:p>
            <a:pPr algn="l">
              <a:defRPr sz="1600" b="1">
                <a:solidFill>
                  <a:srgbClr val="0284C7"/>
                </a:solidFill>
                <a:latin typeface="Calibri"/>
              </a:defRPr>
            </a:pPr>
            <a:r>
              <a:t>Color Palette</a:t>
            </a:r>
          </a:p>
        </p:txBody>
      </p:sp>
      <p:sp>
        <p:nvSpPr>
          <p:cNvPr id="9" name="Oval 8"/>
          <p:cNvSpPr/>
          <p:nvPr/>
        </p:nvSpPr>
        <p:spPr>
          <a:xfrm>
            <a:off x="731520" y="2377440"/>
            <a:ext cx="548640" cy="54864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2423160"/>
            <a:ext cx="1828800" cy="457200"/>
          </a:xfrm>
          <a:prstGeom prst="rect">
            <a:avLst/>
          </a:prstGeom>
          <a:noFill/>
        </p:spPr>
        <p:txBody>
          <a:bodyPr wrap="square" lIns="0" tIns="0" rIns="0" bIns="0">
            <a:spAutoFit/>
          </a:bodyPr>
          <a:lstStyle/>
          <a:p>
            <a:pPr algn="l">
              <a:defRPr sz="1100" b="1">
                <a:solidFill>
                  <a:srgbClr val="0F172A"/>
                </a:solidFill>
                <a:latin typeface="Calibri"/>
              </a:defRPr>
            </a:pPr>
            <a:r>
              <a:t>Primary Green</a:t>
            </a:r>
            <a:br/>
            <a:r>
              <a:t>#15803d</a:t>
            </a:r>
          </a:p>
        </p:txBody>
      </p:sp>
      <p:sp>
        <p:nvSpPr>
          <p:cNvPr id="11" name="Oval 10"/>
          <p:cNvSpPr/>
          <p:nvPr/>
        </p:nvSpPr>
        <p:spPr>
          <a:xfrm>
            <a:off x="731520" y="3246120"/>
            <a:ext cx="548640" cy="548640"/>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291839"/>
            <a:ext cx="1828800" cy="457200"/>
          </a:xfrm>
          <a:prstGeom prst="rect">
            <a:avLst/>
          </a:prstGeom>
          <a:noFill/>
        </p:spPr>
        <p:txBody>
          <a:bodyPr wrap="square" lIns="0" tIns="0" rIns="0" bIns="0">
            <a:spAutoFit/>
          </a:bodyPr>
          <a:lstStyle/>
          <a:p>
            <a:pPr algn="l">
              <a:defRPr sz="1100" b="1">
                <a:solidFill>
                  <a:srgbClr val="0F172A"/>
                </a:solidFill>
                <a:latin typeface="Calibri"/>
              </a:defRPr>
            </a:pPr>
            <a:r>
              <a:t>Primary Blue</a:t>
            </a:r>
            <a:br/>
            <a:r>
              <a:t>#0284c7</a:t>
            </a:r>
          </a:p>
        </p:txBody>
      </p:sp>
      <p:sp>
        <p:nvSpPr>
          <p:cNvPr id="13" name="Oval 12"/>
          <p:cNvSpPr/>
          <p:nvPr/>
        </p:nvSpPr>
        <p:spPr>
          <a:xfrm>
            <a:off x="731520" y="4114800"/>
            <a:ext cx="548640" cy="54864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4160520"/>
            <a:ext cx="1828800" cy="457200"/>
          </a:xfrm>
          <a:prstGeom prst="rect">
            <a:avLst/>
          </a:prstGeom>
          <a:noFill/>
        </p:spPr>
        <p:txBody>
          <a:bodyPr wrap="square" lIns="0" tIns="0" rIns="0" bIns="0">
            <a:spAutoFit/>
          </a:bodyPr>
          <a:lstStyle/>
          <a:p>
            <a:pPr algn="l">
              <a:defRPr sz="1100" b="1">
                <a:solidFill>
                  <a:srgbClr val="0F172A"/>
                </a:solidFill>
                <a:latin typeface="Calibri"/>
              </a:defRPr>
            </a:pPr>
            <a:r>
              <a:t>Accent Orange</a:t>
            </a:r>
            <a:br/>
            <a:r>
              <a:t>#ea580c</a:t>
            </a:r>
          </a:p>
        </p:txBody>
      </p:sp>
      <p:sp>
        <p:nvSpPr>
          <p:cNvPr id="15" name="Oval 14"/>
          <p:cNvSpPr/>
          <p:nvPr/>
        </p:nvSpPr>
        <p:spPr>
          <a:xfrm>
            <a:off x="731520" y="4983479"/>
            <a:ext cx="548640" cy="5486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5029199"/>
            <a:ext cx="1828800" cy="457200"/>
          </a:xfrm>
          <a:prstGeom prst="rect">
            <a:avLst/>
          </a:prstGeom>
          <a:noFill/>
        </p:spPr>
        <p:txBody>
          <a:bodyPr wrap="square" lIns="0" tIns="0" rIns="0" bIns="0">
            <a:spAutoFit/>
          </a:bodyPr>
          <a:lstStyle/>
          <a:p>
            <a:pPr algn="l">
              <a:defRPr sz="1100" b="1">
                <a:solidFill>
                  <a:srgbClr val="0F172A"/>
                </a:solidFill>
                <a:latin typeface="Calibri"/>
              </a:defRPr>
            </a:pPr>
            <a:r>
              <a:t>Dark Slate</a:t>
            </a:r>
            <a:br/>
            <a:r>
              <a:t>#0f172a</a:t>
            </a:r>
          </a:p>
        </p:txBody>
      </p:sp>
      <p:sp>
        <p:nvSpPr>
          <p:cNvPr id="17" name="Rounded Rectangle 16"/>
          <p:cNvSpPr/>
          <p:nvPr/>
        </p:nvSpPr>
        <p:spPr>
          <a:xfrm>
            <a:off x="435254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1828800"/>
            <a:ext cx="3017520" cy="365760"/>
          </a:xfrm>
          <a:prstGeom prst="rect">
            <a:avLst/>
          </a:prstGeom>
          <a:noFill/>
        </p:spPr>
        <p:txBody>
          <a:bodyPr wrap="square" lIns="0" tIns="0" rIns="0" bIns="0">
            <a:spAutoFit/>
          </a:bodyPr>
          <a:lstStyle/>
          <a:p>
            <a:pPr algn="l">
              <a:defRPr sz="1600" b="1">
                <a:solidFill>
                  <a:srgbClr val="15803D"/>
                </a:solidFill>
                <a:latin typeface="Calibri"/>
              </a:defRPr>
            </a:pPr>
            <a:r>
              <a:t>Typography</a:t>
            </a:r>
          </a:p>
        </p:txBody>
      </p:sp>
      <p:sp>
        <p:nvSpPr>
          <p:cNvPr id="20" name="TextBox 19"/>
          <p:cNvSpPr txBox="1"/>
          <p:nvPr/>
        </p:nvSpPr>
        <p:spPr>
          <a:xfrm>
            <a:off x="4480560" y="2377440"/>
            <a:ext cx="3017520" cy="365760"/>
          </a:xfrm>
          <a:prstGeom prst="rect">
            <a:avLst/>
          </a:prstGeom>
          <a:noFill/>
        </p:spPr>
        <p:txBody>
          <a:bodyPr wrap="square" lIns="0" tIns="0" rIns="0" bIns="0">
            <a:spAutoFit/>
          </a:bodyPr>
          <a:lstStyle/>
          <a:p>
            <a:pPr algn="l">
              <a:defRPr sz="1100" b="1">
                <a:solidFill>
                  <a:srgbClr val="64748B"/>
                </a:solidFill>
                <a:latin typeface="Calibri"/>
              </a:defRPr>
            </a:pPr>
            <a:r>
              <a:t>HEADINGS FONT</a:t>
            </a:r>
          </a:p>
        </p:txBody>
      </p:sp>
      <p:sp>
        <p:nvSpPr>
          <p:cNvPr id="21" name="TextBox 20"/>
          <p:cNvSpPr txBox="1"/>
          <p:nvPr/>
        </p:nvSpPr>
        <p:spPr>
          <a:xfrm>
            <a:off x="4480560" y="2651760"/>
            <a:ext cx="3017520" cy="457200"/>
          </a:xfrm>
          <a:prstGeom prst="rect">
            <a:avLst/>
          </a:prstGeom>
          <a:noFill/>
        </p:spPr>
        <p:txBody>
          <a:bodyPr wrap="square" lIns="0" tIns="0" rIns="0" bIns="0">
            <a:spAutoFit/>
          </a:bodyPr>
          <a:lstStyle/>
          <a:p>
            <a:pPr algn="l">
              <a:defRPr sz="2200" b="1">
                <a:solidFill>
                  <a:srgbClr val="0F172A"/>
                </a:solidFill>
                <a:latin typeface="Century Gothic"/>
              </a:defRPr>
            </a:pPr>
            <a:r>
              <a:t>Outfit</a:t>
            </a:r>
          </a:p>
        </p:txBody>
      </p:sp>
      <p:sp>
        <p:nvSpPr>
          <p:cNvPr id="22" name="TextBox 21"/>
          <p:cNvSpPr txBox="1"/>
          <p:nvPr/>
        </p:nvSpPr>
        <p:spPr>
          <a:xfrm>
            <a:off x="4480560" y="3017520"/>
            <a:ext cx="3017520" cy="365760"/>
          </a:xfrm>
          <a:prstGeom prst="rect">
            <a:avLst/>
          </a:prstGeom>
          <a:noFill/>
        </p:spPr>
        <p:txBody>
          <a:bodyPr wrap="square" lIns="0" tIns="0" rIns="0" bIns="0">
            <a:spAutoFit/>
          </a:bodyPr>
          <a:lstStyle/>
          <a:p>
            <a:pPr algn="l">
              <a:defRPr sz="1000" b="0">
                <a:solidFill>
                  <a:srgbClr val="64748B"/>
                </a:solidFill>
                <a:latin typeface="Calibri"/>
              </a:defRPr>
            </a:pPr>
            <a:r>
              <a:t>Modern Sans-Serif with geometric curves. Represents science &amp; precision.</a:t>
            </a:r>
          </a:p>
        </p:txBody>
      </p:sp>
      <p:sp>
        <p:nvSpPr>
          <p:cNvPr id="23" name="TextBox 22"/>
          <p:cNvSpPr txBox="1"/>
          <p:nvPr/>
        </p:nvSpPr>
        <p:spPr>
          <a:xfrm>
            <a:off x="4480560" y="3840480"/>
            <a:ext cx="3017520" cy="365760"/>
          </a:xfrm>
          <a:prstGeom prst="rect">
            <a:avLst/>
          </a:prstGeom>
          <a:noFill/>
        </p:spPr>
        <p:txBody>
          <a:bodyPr wrap="square" lIns="0" tIns="0" rIns="0" bIns="0">
            <a:spAutoFit/>
          </a:bodyPr>
          <a:lstStyle/>
          <a:p>
            <a:pPr algn="l">
              <a:defRPr sz="1100" b="1">
                <a:solidFill>
                  <a:srgbClr val="64748B"/>
                </a:solidFill>
                <a:latin typeface="Calibri"/>
              </a:defRPr>
            </a:pPr>
            <a:r>
              <a:t>BODY FONT</a:t>
            </a:r>
          </a:p>
        </p:txBody>
      </p:sp>
      <p:sp>
        <p:nvSpPr>
          <p:cNvPr id="24" name="TextBox 23"/>
          <p:cNvSpPr txBox="1"/>
          <p:nvPr/>
        </p:nvSpPr>
        <p:spPr>
          <a:xfrm>
            <a:off x="4480560" y="4114800"/>
            <a:ext cx="3017520" cy="457200"/>
          </a:xfrm>
          <a:prstGeom prst="rect">
            <a:avLst/>
          </a:prstGeom>
          <a:noFill/>
        </p:spPr>
        <p:txBody>
          <a:bodyPr wrap="square" lIns="0" tIns="0" rIns="0" bIns="0">
            <a:spAutoFit/>
          </a:bodyPr>
          <a:lstStyle/>
          <a:p>
            <a:pPr algn="l">
              <a:defRPr sz="2000" b="0">
                <a:solidFill>
                  <a:srgbClr val="0F172A"/>
                </a:solidFill>
                <a:latin typeface="Calibri"/>
              </a:defRPr>
            </a:pPr>
            <a:r>
              <a:t>Inter</a:t>
            </a:r>
          </a:p>
        </p:txBody>
      </p:sp>
      <p:sp>
        <p:nvSpPr>
          <p:cNvPr id="25" name="TextBox 24"/>
          <p:cNvSpPr txBox="1"/>
          <p:nvPr/>
        </p:nvSpPr>
        <p:spPr>
          <a:xfrm>
            <a:off x="4480560" y="4480560"/>
            <a:ext cx="3017520" cy="365760"/>
          </a:xfrm>
          <a:prstGeom prst="rect">
            <a:avLst/>
          </a:prstGeom>
          <a:noFill/>
        </p:spPr>
        <p:txBody>
          <a:bodyPr wrap="square" lIns="0" tIns="0" rIns="0" bIns="0">
            <a:spAutoFit/>
          </a:bodyPr>
          <a:lstStyle/>
          <a:p>
            <a:pPr algn="l">
              <a:defRPr sz="1000" b="0">
                <a:solidFill>
                  <a:srgbClr val="64748B"/>
                </a:solidFill>
                <a:latin typeface="Calibri"/>
              </a:defRPr>
            </a:pPr>
            <a:r>
              <a:t>Highly legible sans-serif optimal for technical values &amp; dosage charts.</a:t>
            </a:r>
          </a:p>
        </p:txBody>
      </p:sp>
      <p:sp>
        <p:nvSpPr>
          <p:cNvPr id="26" name="Rounded Rectangle 25"/>
          <p:cNvSpPr/>
          <p:nvPr/>
        </p:nvSpPr>
        <p:spPr>
          <a:xfrm>
            <a:off x="810158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1828800"/>
            <a:ext cx="3017520" cy="365760"/>
          </a:xfrm>
          <a:prstGeom prst="rect">
            <a:avLst/>
          </a:prstGeom>
          <a:noFill/>
        </p:spPr>
        <p:txBody>
          <a:bodyPr wrap="square" lIns="0" tIns="0" rIns="0" bIns="0">
            <a:spAutoFit/>
          </a:bodyPr>
          <a:lstStyle/>
          <a:p>
            <a:pPr algn="l">
              <a:defRPr sz="1600" b="1">
                <a:solidFill>
                  <a:srgbClr val="EA580C"/>
                </a:solidFill>
                <a:latin typeface="Calibri"/>
              </a:defRPr>
            </a:pPr>
            <a:r>
              <a:t>Visual Assets &amp; Accents</a:t>
            </a:r>
          </a:p>
        </p:txBody>
      </p:sp>
      <p:sp>
        <p:nvSpPr>
          <p:cNvPr id="29" name="TextBox 28"/>
          <p:cNvSpPr txBox="1"/>
          <p:nvPr/>
        </p:nvSpPr>
        <p:spPr>
          <a:xfrm>
            <a:off x="8229600" y="2377440"/>
            <a:ext cx="3017520" cy="3657600"/>
          </a:xfrm>
          <a:prstGeom prst="rect">
            <a:avLst/>
          </a:prstGeom>
          <a:noFill/>
        </p:spPr>
        <p:txBody>
          <a:bodyPr wrap="square" lIns="0" tIns="0" rIns="0" bIns="0">
            <a:spAutoFit/>
          </a:bodyPr>
          <a:lstStyle/>
          <a:p>
            <a:pPr>
              <a:defRPr sz="1200">
                <a:solidFill>
                  <a:srgbClr val="0F172A"/>
                </a:solidFill>
                <a:latin typeface="Calibri"/>
              </a:defRPr>
            </a:pPr>
            <a:r>
              <a:t>• Glassmorphism Cards: Frosted containers with white borders.</a:t>
            </a:r>
          </a:p>
          <a:p>
            <a:pPr>
              <a:defRPr sz="1200">
                <a:solidFill>
                  <a:srgbClr val="0F172A"/>
                </a:solidFill>
                <a:latin typeface="Calibri"/>
              </a:defRPr>
            </a:pPr>
            <a:r>
              <a:t>• Premium Flat Icons: SVG vector markers indicating crops and actions.</a:t>
            </a:r>
          </a:p>
          <a:p>
            <a:pPr>
              <a:defRPr sz="1200">
                <a:solidFill>
                  <a:srgbClr val="0F172A"/>
                </a:solidFill>
                <a:latin typeface="Calibri"/>
              </a:defRPr>
            </a:pPr>
            <a:r>
              <a:t>• Color Theme Badges: Visual category tags (e.g. Green for Fungicides).</a:t>
            </a:r>
          </a:p>
          <a:p>
            <a:pPr>
              <a:defRPr sz="1200">
                <a:solidFill>
                  <a:srgbClr val="0F172A"/>
                </a:solidFill>
                <a:latin typeface="Calibri"/>
              </a:defRPr>
            </a:pPr>
            <a:r>
              <a:t>• Fluid CSS Animations: Gentle fades, hover scaling, and loading state shimmers.</a:t>
            </a:r>
          </a:p>
        </p:txBody>
      </p:sp>
    </p:spTree>
  </p:cSld>
  <p:transition>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CONTENT AUDIT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About Us Page &amp; Brand Legacy</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bout.png"/>
          <p:cNvPicPr>
            <a:picLocks noChangeAspect="1"/>
          </p:cNvPicPr>
          <p:nvPr/>
        </p:nvPicPr>
        <p:blipFill>
          <a:blip r:embed="rId2"/>
          <a:stretch>
            <a:fillRect/>
          </a:stretch>
        </p:blipFill>
        <p:spPr>
          <a:xfrm>
            <a:off x="548640" y="2011680"/>
            <a:ext cx="4572000" cy="2857500"/>
          </a:xfrm>
          <a:prstGeom prst="rect">
            <a:avLst/>
          </a:prstGeom>
        </p:spPr>
      </p:pic>
      <p:sp>
        <p:nvSpPr>
          <p:cNvPr id="9" name="Rounded Rectangle 8"/>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COMPANY PROFILE REVIEW</a:t>
            </a:r>
          </a:p>
        </p:txBody>
      </p:sp>
      <p:sp>
        <p:nvSpPr>
          <p:cNvPr id="12" name="TextBox 11"/>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Manufacturing Facility: Spotlights the state-of-the-art chemical formulating factory in Sopan Industrial Zone, Rajkot, Gujarat.</a:t>
            </a:r>
          </a:p>
          <a:p>
            <a:pPr>
              <a:defRPr sz="1300">
                <a:solidFill>
                  <a:srgbClr val="0F172A"/>
                </a:solidFill>
                <a:latin typeface="Calibri"/>
              </a:defRPr>
            </a:pPr>
            <a:r>
              <a:t>• Quality Testing Lab: Details active testing, batch validation, and raw material auditing methodologies.</a:t>
            </a:r>
          </a:p>
          <a:p>
            <a:pPr>
              <a:defRPr sz="1300">
                <a:solidFill>
                  <a:srgbClr val="0F172A"/>
                </a:solidFill>
                <a:latin typeface="Calibri"/>
              </a:defRPr>
            </a:pPr>
            <a:r>
              <a:t>• Certifications: Houses the ISO 9001:2015 logo, creating instant trust for B2B dealers and distributors.</a:t>
            </a:r>
          </a:p>
          <a:p>
            <a:pPr>
              <a:defRPr sz="1300">
                <a:solidFill>
                  <a:srgbClr val="0F172A"/>
                </a:solidFill>
                <a:latin typeface="Calibri"/>
              </a:defRPr>
            </a:pPr>
            <a:r>
              <a:t>• Corporate Video: Includes a teaser container showing facility tours (future scope/gallery integration).</a:t>
            </a:r>
          </a:p>
          <a:p>
            <a:pPr>
              <a:defRPr sz="1300">
                <a:solidFill>
                  <a:srgbClr val="0F172A"/>
                </a:solidFill>
                <a:latin typeface="Calibri"/>
              </a:defRPr>
            </a:pPr>
            <a:r>
              <a:t>• Guiding Principles: Highlights adherence to safety guidelines and eco-responsibility parameters.</a:t>
            </a:r>
          </a:p>
        </p:txBody>
      </p:sp>
    </p:spTree>
  </p:cSld>
  <p:transition>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CATALOG ANALYSIS</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Products Overview &amp; Dynamic Categories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15803D"/>
                </a:solidFill>
                <a:latin typeface="Calibri"/>
              </a:defRPr>
            </a:pPr>
            <a:r>
              <a:t>CATALOG DESIGN SCHEME</a:t>
            </a:r>
          </a:p>
        </p:txBody>
      </p:sp>
      <p:sp>
        <p:nvSpPr>
          <p:cNvPr id="9" name="TextBox 8"/>
          <p:cNvSpPr txBox="1"/>
          <p:nvPr/>
        </p:nvSpPr>
        <p:spPr>
          <a:xfrm>
            <a:off x="822960" y="2286000"/>
            <a:ext cx="4754880" cy="3657600"/>
          </a:xfrm>
          <a:prstGeom prst="rect">
            <a:avLst/>
          </a:prstGeom>
          <a:noFill/>
        </p:spPr>
        <p:txBody>
          <a:bodyPr wrap="square" lIns="0" tIns="0" rIns="0" bIns="0">
            <a:spAutoFit/>
          </a:bodyPr>
          <a:lstStyle/>
          <a:p>
            <a:pPr>
              <a:defRPr sz="1300">
                <a:solidFill>
                  <a:srgbClr val="0F172A"/>
                </a:solidFill>
                <a:latin typeface="Calibri"/>
              </a:defRPr>
            </a:pPr>
            <a:r>
              <a:t>• Five Product Verticals: Insecticides, Fungicides, Herbicides, PGRs, and Water Soluble Fertilizers.</a:t>
            </a:r>
          </a:p>
          <a:p>
            <a:pPr>
              <a:defRPr sz="1300">
                <a:solidFill>
                  <a:srgbClr val="0F172A"/>
                </a:solidFill>
                <a:latin typeface="Calibri"/>
              </a:defRPr>
            </a:pPr>
            <a:r>
              <a:t>• Dynamic Filtering: Frontend categories allow farmers to select options and see instantaneous results without page reloads.</a:t>
            </a:r>
          </a:p>
          <a:p>
            <a:pPr>
              <a:defRPr sz="1300">
                <a:solidFill>
                  <a:srgbClr val="0F172A"/>
                </a:solidFill>
                <a:latin typeface="Calibri"/>
              </a:defRPr>
            </a:pPr>
            <a:r>
              <a:t>• Product Grid Layout: 101+ items structured in a clean grid featuring high-contrast colored cards.</a:t>
            </a:r>
          </a:p>
          <a:p>
            <a:pPr>
              <a:defRPr sz="1300">
                <a:solidFill>
                  <a:srgbClr val="0F172A"/>
                </a:solidFill>
                <a:latin typeface="Calibri"/>
              </a:defRPr>
            </a:pPr>
            <a:r>
              <a:t>• Quick Technical specs: Cards directly highlight the active chemical formulation and available pack sizes.</a:t>
            </a:r>
          </a:p>
          <a:p>
            <a:pPr>
              <a:defRPr sz="1300">
                <a:solidFill>
                  <a:srgbClr val="0F172A"/>
                </a:solidFill>
                <a:latin typeface="Calibri"/>
              </a:defRPr>
            </a:pPr>
            <a:r>
              <a:t>• Lead Funnel integration: Every product card contains a prominent WhatsApp enquiry button.</a:t>
            </a:r>
          </a:p>
        </p:txBody>
      </p:sp>
      <p:sp>
        <p:nvSpPr>
          <p:cNvPr id="10" name="Rounded Rectangle 9"/>
          <p:cNvSpPr/>
          <p:nvPr/>
        </p:nvSpPr>
        <p:spPr>
          <a:xfrm>
            <a:off x="630936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oducts.png"/>
          <p:cNvPicPr>
            <a:picLocks noChangeAspect="1"/>
          </p:cNvPicPr>
          <p:nvPr/>
        </p:nvPicPr>
        <p:blipFill>
          <a:blip r:embed="rId2"/>
          <a:stretch>
            <a:fillRect/>
          </a:stretch>
        </p:blipFill>
        <p:spPr>
          <a:xfrm>
            <a:off x="6675120" y="2011680"/>
            <a:ext cx="4572000" cy="2857500"/>
          </a:xfrm>
          <a:prstGeom prst="rect">
            <a:avLst/>
          </a:prstGeom>
        </p:spPr>
      </p:pic>
    </p:spTree>
  </p:cSld>
  <p:transition>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CONVERSION OPTIMIZATION</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Product Detail Page &amp; Conversion CTAs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oducts.png"/>
          <p:cNvPicPr>
            <a:picLocks noChangeAspect="1"/>
          </p:cNvPicPr>
          <p:nvPr/>
        </p:nvPicPr>
        <p:blipFill>
          <a:blip r:embed="rId2"/>
          <a:stretch>
            <a:fillRect/>
          </a:stretch>
        </p:blipFill>
        <p:spPr>
          <a:xfrm>
            <a:off x="548640" y="2011680"/>
            <a:ext cx="4572000" cy="2857500"/>
          </a:xfrm>
          <a:prstGeom prst="rect">
            <a:avLst/>
          </a:prstGeom>
        </p:spPr>
      </p:pic>
      <p:sp>
        <p:nvSpPr>
          <p:cNvPr id="9" name="Rounded Rectangle 8"/>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PRODUCT MODAL INFORMATION MODEL</a:t>
            </a:r>
          </a:p>
        </p:txBody>
      </p:sp>
      <p:sp>
        <p:nvSpPr>
          <p:cNvPr id="12" name="TextBox 11"/>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Common Name &amp; Chemistry: Showcases full active ingredient list (e.g. MALIKA ZC has Thiamethoxam 12.6% + Lambda Cyhalothrin 9.6%).</a:t>
            </a:r>
          </a:p>
          <a:p>
            <a:pPr>
              <a:defRPr sz="1300">
                <a:solidFill>
                  <a:srgbClr val="0F172A"/>
                </a:solidFill>
                <a:latin typeface="Calibri"/>
              </a:defRPr>
            </a:pPr>
            <a:r>
              <a:t>• Dosage Chart: Provides precise mix rates (e.g., 20 ml per 15 Ltr water).</a:t>
            </a:r>
          </a:p>
          <a:p>
            <a:pPr>
              <a:defRPr sz="1300">
                <a:solidFill>
                  <a:srgbClr val="0F172A"/>
                </a:solidFill>
                <a:latin typeface="Calibri"/>
              </a:defRPr>
            </a:pPr>
            <a:r>
              <a:t>• Foliage Instructions: Recommends target crops (Cotton, Chilli, Groundnut) and target pests (Thrips, Whitefly).</a:t>
            </a:r>
          </a:p>
          <a:p>
            <a:pPr>
              <a:defRPr sz="1300">
                <a:solidFill>
                  <a:srgbClr val="0F172A"/>
                </a:solidFill>
                <a:latin typeface="Calibri"/>
              </a:defRPr>
            </a:pPr>
            <a:r>
              <a:t>• Mode of Action: Outlines scientific chemistry (Systemic &amp; Contact protection).</a:t>
            </a:r>
          </a:p>
          <a:p>
            <a:pPr>
              <a:defRPr sz="1300">
                <a:solidFill>
                  <a:srgbClr val="0F172A"/>
                </a:solidFill>
                <a:latin typeface="Calibri"/>
              </a:defRPr>
            </a:pPr>
            <a:r>
              <a:t>• Conversion Anchors: Features PDF tech spec sheet download, B2B price quote request, and direct WhatsApp customer enquiry.</a:t>
            </a:r>
          </a:p>
        </p:txBody>
      </p:sp>
    </p:spTree>
  </p:cSld>
  <p:transition>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UX OPTIMIZATION</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Dynamic Search &amp; Real-time Indexing</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EA580C"/>
                </a:solidFill>
                <a:latin typeface="Calibri"/>
              </a:defRPr>
            </a:pPr>
            <a:r>
              <a:t>SEARCH BEHAVIOR AUDIT</a:t>
            </a:r>
          </a:p>
        </p:txBody>
      </p:sp>
      <p:sp>
        <p:nvSpPr>
          <p:cNvPr id="9" name="TextBox 8"/>
          <p:cNvSpPr txBox="1"/>
          <p:nvPr/>
        </p:nvSpPr>
        <p:spPr>
          <a:xfrm>
            <a:off x="822960" y="2286000"/>
            <a:ext cx="4754880" cy="3657600"/>
          </a:xfrm>
          <a:prstGeom prst="rect">
            <a:avLst/>
          </a:prstGeom>
          <a:noFill/>
        </p:spPr>
        <p:txBody>
          <a:bodyPr wrap="square" lIns="0" tIns="0" rIns="0" bIns="0">
            <a:spAutoFit/>
          </a:bodyPr>
          <a:lstStyle/>
          <a:p>
            <a:pPr>
              <a:defRPr sz="1300">
                <a:solidFill>
                  <a:srgbClr val="0F172A"/>
                </a:solidFill>
                <a:latin typeface="Calibri"/>
              </a:defRPr>
            </a:pPr>
            <a:r>
              <a:t>• Instant Search: Results update dynamically as the user types.</a:t>
            </a:r>
          </a:p>
          <a:p>
            <a:pPr>
              <a:defRPr sz="1300">
                <a:solidFill>
                  <a:srgbClr val="0F172A"/>
                </a:solidFill>
                <a:latin typeface="Calibri"/>
              </a:defRPr>
            </a:pPr>
            <a:r>
              <a:t>• Multi-Field Indexing: Looks up terms across product names, active ingredients, target pests, and crops.</a:t>
            </a:r>
          </a:p>
          <a:p>
            <a:pPr>
              <a:defRPr sz="1300">
                <a:solidFill>
                  <a:srgbClr val="0F172A"/>
                </a:solidFill>
                <a:latin typeface="Calibri"/>
              </a:defRPr>
            </a:pPr>
            <a:r>
              <a:t>• Keyword matching: Users typing 'Cotton' immediately view all insecticides and fertilizers recommended for cotton crops.</a:t>
            </a:r>
          </a:p>
          <a:p>
            <a:pPr>
              <a:defRPr sz="1300">
                <a:solidFill>
                  <a:srgbClr val="0F172A"/>
                </a:solidFill>
                <a:latin typeface="Calibri"/>
              </a:defRPr>
            </a:pPr>
            <a:r>
              <a:t>• No-result helper: If no match is found, the UI displays a helpful prompt suggesting search adjustments or direct support contact.</a:t>
            </a:r>
          </a:p>
        </p:txBody>
      </p:sp>
      <p:sp>
        <p:nvSpPr>
          <p:cNvPr id="10" name="Rounded Rectangle 9"/>
          <p:cNvSpPr/>
          <p:nvPr/>
        </p:nvSpPr>
        <p:spPr>
          <a:xfrm>
            <a:off x="630936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oducts.png"/>
          <p:cNvPicPr>
            <a:picLocks noChangeAspect="1"/>
          </p:cNvPicPr>
          <p:nvPr/>
        </p:nvPicPr>
        <p:blipFill>
          <a:blip r:embed="rId2"/>
          <a:stretch>
            <a:fillRect/>
          </a:stretch>
        </p:blipFill>
        <p:spPr>
          <a:xfrm>
            <a:off x="6675120" y="2011680"/>
            <a:ext cx="4572000" cy="2857500"/>
          </a:xfrm>
          <a:prstGeom prst="rect">
            <a:avLst/>
          </a:prstGeom>
        </p:spPr>
      </p:pic>
    </p:spTree>
  </p:cSld>
  <p:transition>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CONTACT OPTIMIZATION</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Contact Channels &amp; Lead Forms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ntact.png"/>
          <p:cNvPicPr>
            <a:picLocks noChangeAspect="1"/>
          </p:cNvPicPr>
          <p:nvPr/>
        </p:nvPicPr>
        <p:blipFill>
          <a:blip r:embed="rId2"/>
          <a:stretch>
            <a:fillRect/>
          </a:stretch>
        </p:blipFill>
        <p:spPr>
          <a:xfrm>
            <a:off x="548640" y="2011680"/>
            <a:ext cx="4572000" cy="2857500"/>
          </a:xfrm>
          <a:prstGeom prst="rect">
            <a:avLst/>
          </a:prstGeom>
        </p:spPr>
      </p:pic>
      <p:sp>
        <p:nvSpPr>
          <p:cNvPr id="9" name="Rounded Rectangle 8"/>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COMMUNICATION TOUCHPOINTS</a:t>
            </a:r>
          </a:p>
        </p:txBody>
      </p:sp>
      <p:sp>
        <p:nvSpPr>
          <p:cNvPr id="12" name="TextBox 11"/>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Validation Lead Form: Prompts name, email, phone, city, user type, and text message to prevent empty submissions.</a:t>
            </a:r>
          </a:p>
          <a:p>
            <a:pPr>
              <a:defRPr sz="1300">
                <a:solidFill>
                  <a:srgbClr val="0F172A"/>
                </a:solidFill>
                <a:latin typeface="Calibri"/>
              </a:defRPr>
            </a:pPr>
            <a:r>
              <a:t>• Google Maps: Pins the physical factory location near Atul Auto, National Highway 8B, Sopan Industrial Zone, Rajkot.</a:t>
            </a:r>
          </a:p>
          <a:p>
            <a:pPr>
              <a:defRPr sz="1300">
                <a:solidFill>
                  <a:srgbClr val="0F172A"/>
                </a:solidFill>
                <a:latin typeface="Calibri"/>
              </a:defRPr>
            </a:pPr>
            <a:r>
              <a:t>• WhatsApp Direct: Launches chat window to +91 6351 250 285 for immediate response.</a:t>
            </a:r>
          </a:p>
          <a:p>
            <a:pPr>
              <a:defRPr sz="1300">
                <a:solidFill>
                  <a:srgbClr val="0F172A"/>
                </a:solidFill>
                <a:latin typeface="Calibri"/>
              </a:defRPr>
            </a:pPr>
            <a:r>
              <a:t>• Email Support: Official mailbox (drchemistarcrop@gmail.com) for formal dealer documentation.</a:t>
            </a:r>
          </a:p>
          <a:p>
            <a:pPr>
              <a:defRPr sz="1300">
                <a:solidFill>
                  <a:srgbClr val="0F172A"/>
                </a:solidFill>
                <a:latin typeface="Calibri"/>
              </a:defRPr>
            </a:pPr>
            <a:r>
              <a:t>• Phone Hotline: Quick dialing contact for immediate product queries.</a:t>
            </a:r>
          </a:p>
        </p:txBody>
      </p:sp>
    </p:spTree>
  </p:cSld>
  <p:transition>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FEATURE MATRIX</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Core Website Capabilities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017520" cy="365760"/>
          </a:xfrm>
          <a:prstGeom prst="rect">
            <a:avLst/>
          </a:prstGeom>
          <a:noFill/>
        </p:spPr>
        <p:txBody>
          <a:bodyPr wrap="square" lIns="0" tIns="0" rIns="0" bIns="0">
            <a:spAutoFit/>
          </a:bodyPr>
          <a:lstStyle/>
          <a:p>
            <a:pPr algn="l">
              <a:defRPr sz="1400" b="1">
                <a:solidFill>
                  <a:srgbClr val="0284C7"/>
                </a:solidFill>
                <a:latin typeface="Calibri"/>
              </a:defRPr>
            </a:pPr>
            <a:r>
              <a:t>Mobile Responsive</a:t>
            </a:r>
          </a:p>
        </p:txBody>
      </p:sp>
      <p:sp>
        <p:nvSpPr>
          <p:cNvPr id="9" name="TextBox 8"/>
          <p:cNvSpPr txBox="1"/>
          <p:nvPr/>
        </p:nvSpPr>
        <p:spPr>
          <a:xfrm>
            <a:off x="731520" y="2286000"/>
            <a:ext cx="3017520" cy="1280160"/>
          </a:xfrm>
          <a:prstGeom prst="rect">
            <a:avLst/>
          </a:prstGeom>
          <a:noFill/>
        </p:spPr>
        <p:txBody>
          <a:bodyPr wrap="square" lIns="0" tIns="0" rIns="0" bIns="0">
            <a:spAutoFit/>
          </a:bodyPr>
          <a:lstStyle/>
          <a:p>
            <a:pPr algn="l">
              <a:defRPr sz="1100" b="0">
                <a:solidFill>
                  <a:srgbClr val="0F172A"/>
                </a:solidFill>
                <a:latin typeface="Calibri"/>
              </a:defRPr>
            </a:pPr>
            <a:r>
              <a:t>Adapts to desktop, tablet, and mobile layouts seamlessly.</a:t>
            </a:r>
          </a:p>
        </p:txBody>
      </p:sp>
      <p:sp>
        <p:nvSpPr>
          <p:cNvPr id="10" name="Rounded Rectangle 9"/>
          <p:cNvSpPr/>
          <p:nvPr/>
        </p:nvSpPr>
        <p:spPr>
          <a:xfrm>
            <a:off x="4352544" y="170078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64592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017520" cy="365760"/>
          </a:xfrm>
          <a:prstGeom prst="rect">
            <a:avLst/>
          </a:prstGeom>
          <a:noFill/>
        </p:spPr>
        <p:txBody>
          <a:bodyPr wrap="square" lIns="0" tIns="0" rIns="0" bIns="0">
            <a:spAutoFit/>
          </a:bodyPr>
          <a:lstStyle/>
          <a:p>
            <a:pPr algn="l">
              <a:defRPr sz="1400" b="1">
                <a:solidFill>
                  <a:srgbClr val="15803D"/>
                </a:solidFill>
                <a:latin typeface="Calibri"/>
              </a:defRPr>
            </a:pPr>
            <a:r>
              <a:t>Lightning Fast Speed</a:t>
            </a:r>
          </a:p>
        </p:txBody>
      </p:sp>
      <p:sp>
        <p:nvSpPr>
          <p:cNvPr id="13" name="TextBox 12"/>
          <p:cNvSpPr txBox="1"/>
          <p:nvPr/>
        </p:nvSpPr>
        <p:spPr>
          <a:xfrm>
            <a:off x="4480560" y="2286000"/>
            <a:ext cx="3017520" cy="1280160"/>
          </a:xfrm>
          <a:prstGeom prst="rect">
            <a:avLst/>
          </a:prstGeom>
          <a:noFill/>
        </p:spPr>
        <p:txBody>
          <a:bodyPr wrap="square" lIns="0" tIns="0" rIns="0" bIns="0">
            <a:spAutoFit/>
          </a:bodyPr>
          <a:lstStyle/>
          <a:p>
            <a:pPr algn="l">
              <a:defRPr sz="1100" b="0">
                <a:solidFill>
                  <a:srgbClr val="0F172A"/>
                </a:solidFill>
                <a:latin typeface="Calibri"/>
              </a:defRPr>
            </a:pPr>
            <a:r>
              <a:t>Built on Vite and Tailwind for fast loading on 3G/4G rural networks.</a:t>
            </a:r>
          </a:p>
        </p:txBody>
      </p:sp>
      <p:sp>
        <p:nvSpPr>
          <p:cNvPr id="14" name="Rounded Rectangle 13"/>
          <p:cNvSpPr/>
          <p:nvPr/>
        </p:nvSpPr>
        <p:spPr>
          <a:xfrm>
            <a:off x="8101584" y="170078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164592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28800"/>
            <a:ext cx="3017520" cy="365760"/>
          </a:xfrm>
          <a:prstGeom prst="rect">
            <a:avLst/>
          </a:prstGeom>
          <a:noFill/>
        </p:spPr>
        <p:txBody>
          <a:bodyPr wrap="square" lIns="0" tIns="0" rIns="0" bIns="0">
            <a:spAutoFit/>
          </a:bodyPr>
          <a:lstStyle/>
          <a:p>
            <a:pPr algn="l">
              <a:defRPr sz="1400" b="1">
                <a:solidFill>
                  <a:srgbClr val="EA580C"/>
                </a:solidFill>
                <a:latin typeface="Calibri"/>
              </a:defRPr>
            </a:pPr>
            <a:r>
              <a:t>SEO-Ready Structure</a:t>
            </a:r>
          </a:p>
        </p:txBody>
      </p:sp>
      <p:sp>
        <p:nvSpPr>
          <p:cNvPr id="17" name="TextBox 16"/>
          <p:cNvSpPr txBox="1"/>
          <p:nvPr/>
        </p:nvSpPr>
        <p:spPr>
          <a:xfrm>
            <a:off x="8229600" y="2286000"/>
            <a:ext cx="3017520" cy="1280160"/>
          </a:xfrm>
          <a:prstGeom prst="rect">
            <a:avLst/>
          </a:prstGeom>
          <a:noFill/>
        </p:spPr>
        <p:txBody>
          <a:bodyPr wrap="square" lIns="0" tIns="0" rIns="0" bIns="0">
            <a:spAutoFit/>
          </a:bodyPr>
          <a:lstStyle/>
          <a:p>
            <a:pPr algn="l">
              <a:defRPr sz="1100" b="0">
                <a:solidFill>
                  <a:srgbClr val="0F172A"/>
                </a:solidFill>
                <a:latin typeface="Calibri"/>
              </a:defRPr>
            </a:pPr>
            <a:r>
              <a:t>Clean HTML5 semantic structure with built-in descriptive metadata.</a:t>
            </a:r>
          </a:p>
        </p:txBody>
      </p:sp>
      <p:sp>
        <p:nvSpPr>
          <p:cNvPr id="18" name="Rounded Rectangle 17"/>
          <p:cNvSpPr/>
          <p:nvPr/>
        </p:nvSpPr>
        <p:spPr>
          <a:xfrm>
            <a:off x="603504" y="416966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411480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97680"/>
            <a:ext cx="3017520" cy="365760"/>
          </a:xfrm>
          <a:prstGeom prst="rect">
            <a:avLst/>
          </a:prstGeom>
          <a:noFill/>
        </p:spPr>
        <p:txBody>
          <a:bodyPr wrap="square" lIns="0" tIns="0" rIns="0" bIns="0">
            <a:spAutoFit/>
          </a:bodyPr>
          <a:lstStyle/>
          <a:p>
            <a:pPr algn="l">
              <a:defRPr sz="1400" b="1">
                <a:solidFill>
                  <a:srgbClr val="15803D"/>
                </a:solidFill>
                <a:latin typeface="Calibri"/>
              </a:defRPr>
            </a:pPr>
            <a:r>
              <a:t>Bilingual Content</a:t>
            </a:r>
          </a:p>
        </p:txBody>
      </p:sp>
      <p:sp>
        <p:nvSpPr>
          <p:cNvPr id="21" name="TextBox 20"/>
          <p:cNvSpPr txBox="1"/>
          <p:nvPr/>
        </p:nvSpPr>
        <p:spPr>
          <a:xfrm>
            <a:off x="731520" y="4754880"/>
            <a:ext cx="3017520" cy="1280160"/>
          </a:xfrm>
          <a:prstGeom prst="rect">
            <a:avLst/>
          </a:prstGeom>
          <a:noFill/>
        </p:spPr>
        <p:txBody>
          <a:bodyPr wrap="square" lIns="0" tIns="0" rIns="0" bIns="0">
            <a:spAutoFit/>
          </a:bodyPr>
          <a:lstStyle/>
          <a:p>
            <a:pPr algn="l">
              <a:defRPr sz="1100" b="0">
                <a:solidFill>
                  <a:srgbClr val="0F172A"/>
                </a:solidFill>
                <a:latin typeface="Calibri"/>
              </a:defRPr>
            </a:pPr>
            <a:r>
              <a:t>English and Hindi localizations to support local farmers.</a:t>
            </a:r>
          </a:p>
        </p:txBody>
      </p:sp>
      <p:sp>
        <p:nvSpPr>
          <p:cNvPr id="22" name="Rounded Rectangle 21"/>
          <p:cNvSpPr/>
          <p:nvPr/>
        </p:nvSpPr>
        <p:spPr>
          <a:xfrm>
            <a:off x="4352544" y="416966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97680" y="411480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297680"/>
            <a:ext cx="3017520" cy="365760"/>
          </a:xfrm>
          <a:prstGeom prst="rect">
            <a:avLst/>
          </a:prstGeom>
          <a:noFill/>
        </p:spPr>
        <p:txBody>
          <a:bodyPr wrap="square" lIns="0" tIns="0" rIns="0" bIns="0">
            <a:spAutoFit/>
          </a:bodyPr>
          <a:lstStyle/>
          <a:p>
            <a:pPr algn="l">
              <a:defRPr sz="1400" b="1">
                <a:solidFill>
                  <a:srgbClr val="0284C7"/>
                </a:solidFill>
                <a:latin typeface="Calibri"/>
              </a:defRPr>
            </a:pPr>
            <a:r>
              <a:t>AI Diagnostic Doctor</a:t>
            </a:r>
          </a:p>
        </p:txBody>
      </p:sp>
      <p:sp>
        <p:nvSpPr>
          <p:cNvPr id="25" name="TextBox 24"/>
          <p:cNvSpPr txBox="1"/>
          <p:nvPr/>
        </p:nvSpPr>
        <p:spPr>
          <a:xfrm>
            <a:off x="4480560" y="4754880"/>
            <a:ext cx="3017520" cy="1280160"/>
          </a:xfrm>
          <a:prstGeom prst="rect">
            <a:avLst/>
          </a:prstGeom>
          <a:noFill/>
        </p:spPr>
        <p:txBody>
          <a:bodyPr wrap="square" lIns="0" tIns="0" rIns="0" bIns="0">
            <a:spAutoFit/>
          </a:bodyPr>
          <a:lstStyle/>
          <a:p>
            <a:pPr algn="l">
              <a:defRPr sz="1100" b="0">
                <a:solidFill>
                  <a:srgbClr val="0F172A"/>
                </a:solidFill>
                <a:latin typeface="Calibri"/>
              </a:defRPr>
            </a:pPr>
            <a:r>
              <a:t>Ready integration for automated leaf disease identification.</a:t>
            </a:r>
          </a:p>
        </p:txBody>
      </p:sp>
      <p:sp>
        <p:nvSpPr>
          <p:cNvPr id="26" name="Rounded Rectangle 25"/>
          <p:cNvSpPr/>
          <p:nvPr/>
        </p:nvSpPr>
        <p:spPr>
          <a:xfrm>
            <a:off x="8101584" y="4169664"/>
            <a:ext cx="33832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46720" y="4114800"/>
            <a:ext cx="33832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4297680"/>
            <a:ext cx="3017520" cy="365760"/>
          </a:xfrm>
          <a:prstGeom prst="rect">
            <a:avLst/>
          </a:prstGeom>
          <a:noFill/>
        </p:spPr>
        <p:txBody>
          <a:bodyPr wrap="square" lIns="0" tIns="0" rIns="0" bIns="0">
            <a:spAutoFit/>
          </a:bodyPr>
          <a:lstStyle/>
          <a:p>
            <a:pPr algn="l">
              <a:defRPr sz="1400" b="1">
                <a:solidFill>
                  <a:srgbClr val="0F172A"/>
                </a:solidFill>
                <a:latin typeface="Calibri"/>
              </a:defRPr>
            </a:pPr>
            <a:r>
              <a:t>Secure SSL &amp; Forms</a:t>
            </a:r>
          </a:p>
        </p:txBody>
      </p:sp>
      <p:sp>
        <p:nvSpPr>
          <p:cNvPr id="29" name="TextBox 28"/>
          <p:cNvSpPr txBox="1"/>
          <p:nvPr/>
        </p:nvSpPr>
        <p:spPr>
          <a:xfrm>
            <a:off x="8229600" y="4754880"/>
            <a:ext cx="3017520" cy="1280160"/>
          </a:xfrm>
          <a:prstGeom prst="rect">
            <a:avLst/>
          </a:prstGeom>
          <a:noFill/>
        </p:spPr>
        <p:txBody>
          <a:bodyPr wrap="square" lIns="0" tIns="0" rIns="0" bIns="0">
            <a:spAutoFit/>
          </a:bodyPr>
          <a:lstStyle/>
          <a:p>
            <a:pPr algn="l">
              <a:defRPr sz="1100" b="0">
                <a:solidFill>
                  <a:srgbClr val="0F172A"/>
                </a:solidFill>
                <a:latin typeface="Calibri"/>
              </a:defRPr>
            </a:pPr>
            <a:r>
              <a:t>Protects user data, validates queries, and halts server injection.</a:t>
            </a:r>
          </a:p>
        </p:txBody>
      </p:sp>
    </p:spTree>
  </p:cSld>
  <p:transition>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CROSS-DEVICE LAYOUT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Responsive Adaptability on All Screen Sizes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sponsive_desktop.png"/>
          <p:cNvPicPr>
            <a:picLocks noChangeAspect="1"/>
          </p:cNvPicPr>
          <p:nvPr/>
        </p:nvPicPr>
        <p:blipFill>
          <a:blip r:embed="rId2"/>
          <a:stretch>
            <a:fillRect/>
          </a:stretch>
        </p:blipFill>
        <p:spPr>
          <a:xfrm>
            <a:off x="548640" y="2011680"/>
            <a:ext cx="4572000" cy="2857500"/>
          </a:xfrm>
          <a:prstGeom prst="rect">
            <a:avLst/>
          </a:prstGeom>
        </p:spPr>
      </p:pic>
      <p:sp>
        <p:nvSpPr>
          <p:cNvPr id="9" name="Rounded Rectangle 8"/>
          <p:cNvSpPr/>
          <p:nvPr/>
        </p:nvSpPr>
        <p:spPr>
          <a:xfrm>
            <a:off x="5559552" y="1719072"/>
            <a:ext cx="3145536" cy="4123943"/>
          </a:xfrm>
          <a:prstGeom prst="roundRect">
            <a:avLst/>
          </a:prstGeom>
          <a:solidFill>
            <a:srgbClr val="1E1E1E"/>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sponsive_tablet.png"/>
          <p:cNvPicPr>
            <a:picLocks noChangeAspect="1"/>
          </p:cNvPicPr>
          <p:nvPr/>
        </p:nvPicPr>
        <p:blipFill>
          <a:blip r:embed="rId3"/>
          <a:stretch>
            <a:fillRect/>
          </a:stretch>
        </p:blipFill>
        <p:spPr>
          <a:xfrm>
            <a:off x="5669280" y="1828800"/>
            <a:ext cx="2926080" cy="3904487"/>
          </a:xfrm>
          <a:prstGeom prst="rect">
            <a:avLst/>
          </a:prstGeom>
        </p:spPr>
      </p:pic>
      <p:sp>
        <p:nvSpPr>
          <p:cNvPr id="11" name="Rounded Rectangle 10"/>
          <p:cNvSpPr/>
          <p:nvPr/>
        </p:nvSpPr>
        <p:spPr>
          <a:xfrm>
            <a:off x="9528048" y="1938528"/>
            <a:ext cx="1792224" cy="3712464"/>
          </a:xfrm>
          <a:prstGeom prst="roundRect">
            <a:avLst/>
          </a:prstGeom>
          <a:solidFill>
            <a:srgbClr val="1E1E1E"/>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ponsive_mobile.png"/>
          <p:cNvPicPr>
            <a:picLocks noChangeAspect="1"/>
          </p:cNvPicPr>
          <p:nvPr/>
        </p:nvPicPr>
        <p:blipFill>
          <a:blip r:embed="rId4"/>
          <a:stretch>
            <a:fillRect/>
          </a:stretch>
        </p:blipFill>
        <p:spPr>
          <a:xfrm>
            <a:off x="9601200" y="2011680"/>
            <a:ext cx="1645920" cy="3566160"/>
          </a:xfrm>
          <a:prstGeom prst="rect">
            <a:avLst/>
          </a:prstGeom>
        </p:spPr>
      </p:pic>
      <p:sp>
        <p:nvSpPr>
          <p:cNvPr id="13" name="Rounded Rectangle 12"/>
          <p:cNvSpPr/>
          <p:nvPr/>
        </p:nvSpPr>
        <p:spPr>
          <a:xfrm>
            <a:off x="603504" y="5541264"/>
            <a:ext cx="4572000" cy="9144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486400"/>
            <a:ext cx="45720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577840"/>
            <a:ext cx="4206240" cy="731520"/>
          </a:xfrm>
          <a:prstGeom prst="rect">
            <a:avLst/>
          </a:prstGeom>
          <a:noFill/>
        </p:spPr>
        <p:txBody>
          <a:bodyPr wrap="square" lIns="0" tIns="0" rIns="0" bIns="0">
            <a:spAutoFit/>
          </a:bodyPr>
          <a:lstStyle/>
          <a:p>
            <a:pPr algn="l">
              <a:defRPr sz="1100" b="0">
                <a:solidFill>
                  <a:srgbClr val="0F172A"/>
                </a:solidFill>
                <a:latin typeface="Calibri"/>
              </a:defRPr>
            </a:pPr>
            <a:r>
              <a:t>Fluid CSS layouts ensure clean visual reflow. Navigation menus compress into burger bars on smaller viewports.</a:t>
            </a:r>
          </a:p>
        </p:txBody>
      </p:sp>
    </p:spTree>
  </p:cSld>
  <p:transition>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CUSTOMER JOURNEY</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Visitor to High-Quality B2B Lead Conversion Flow</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548640" y="2011680"/>
            <a:ext cx="2011680" cy="1645920"/>
          </a:xfrm>
          <a:prstGeom prst="chevron">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840480"/>
            <a:ext cx="1828800" cy="274320"/>
          </a:xfrm>
          <a:prstGeom prst="rect">
            <a:avLst/>
          </a:prstGeom>
          <a:noFill/>
        </p:spPr>
        <p:txBody>
          <a:bodyPr wrap="square" lIns="0" tIns="0" rIns="0" bIns="0">
            <a:spAutoFit/>
          </a:bodyPr>
          <a:lstStyle/>
          <a:p>
            <a:pPr algn="ctr">
              <a:defRPr sz="1100" b="1">
                <a:solidFill>
                  <a:srgbClr val="0F172A"/>
                </a:solidFill>
                <a:latin typeface="Calibri"/>
              </a:defRPr>
            </a:pPr>
            <a:r>
              <a:t>1. VISITOR LANDS</a:t>
            </a:r>
          </a:p>
        </p:txBody>
      </p:sp>
      <p:sp>
        <p:nvSpPr>
          <p:cNvPr id="8" name="TextBox 7"/>
          <p:cNvSpPr txBox="1"/>
          <p:nvPr/>
        </p:nvSpPr>
        <p:spPr>
          <a:xfrm>
            <a:off x="685800" y="4160520"/>
            <a:ext cx="1828800" cy="1645920"/>
          </a:xfrm>
          <a:prstGeom prst="rect">
            <a:avLst/>
          </a:prstGeom>
          <a:noFill/>
        </p:spPr>
        <p:txBody>
          <a:bodyPr wrap="square" lIns="0" tIns="0" rIns="0" bIns="0">
            <a:spAutoFit/>
          </a:bodyPr>
          <a:lstStyle/>
          <a:p>
            <a:pPr algn="ctr">
              <a:defRPr sz="1000" b="0">
                <a:solidFill>
                  <a:srgbClr val="64748B"/>
                </a:solidFill>
                <a:latin typeface="Calibri"/>
              </a:defRPr>
            </a:pPr>
            <a:r>
              <a:t>Browses home / slider banners.</a:t>
            </a:r>
          </a:p>
        </p:txBody>
      </p:sp>
      <p:sp>
        <p:nvSpPr>
          <p:cNvPr id="9" name="Chevron 8"/>
          <p:cNvSpPr/>
          <p:nvPr/>
        </p:nvSpPr>
        <p:spPr>
          <a:xfrm>
            <a:off x="2697480" y="2011680"/>
            <a:ext cx="2011680" cy="1645920"/>
          </a:xfrm>
          <a:prstGeom prst="chevron">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3840480"/>
            <a:ext cx="1828800" cy="274320"/>
          </a:xfrm>
          <a:prstGeom prst="rect">
            <a:avLst/>
          </a:prstGeom>
          <a:noFill/>
        </p:spPr>
        <p:txBody>
          <a:bodyPr wrap="square" lIns="0" tIns="0" rIns="0" bIns="0">
            <a:spAutoFit/>
          </a:bodyPr>
          <a:lstStyle/>
          <a:p>
            <a:pPr algn="ctr">
              <a:defRPr sz="1100" b="1">
                <a:solidFill>
                  <a:srgbClr val="0F172A"/>
                </a:solidFill>
                <a:latin typeface="Calibri"/>
              </a:defRPr>
            </a:pPr>
            <a:r>
              <a:t>2. EXPLORES CATALOG</a:t>
            </a:r>
          </a:p>
        </p:txBody>
      </p:sp>
      <p:sp>
        <p:nvSpPr>
          <p:cNvPr id="11" name="TextBox 10"/>
          <p:cNvSpPr txBox="1"/>
          <p:nvPr/>
        </p:nvSpPr>
        <p:spPr>
          <a:xfrm>
            <a:off x="2834640" y="4160520"/>
            <a:ext cx="1828800" cy="1645920"/>
          </a:xfrm>
          <a:prstGeom prst="rect">
            <a:avLst/>
          </a:prstGeom>
          <a:noFill/>
        </p:spPr>
        <p:txBody>
          <a:bodyPr wrap="square" lIns="0" tIns="0" rIns="0" bIns="0">
            <a:spAutoFit/>
          </a:bodyPr>
          <a:lstStyle/>
          <a:p>
            <a:pPr algn="ctr">
              <a:defRPr sz="1000" b="0">
                <a:solidFill>
                  <a:srgbClr val="64748B"/>
                </a:solidFill>
                <a:latin typeface="Calibri"/>
              </a:defRPr>
            </a:pPr>
            <a:r>
              <a:t>Filters products by category.</a:t>
            </a:r>
          </a:p>
        </p:txBody>
      </p:sp>
      <p:sp>
        <p:nvSpPr>
          <p:cNvPr id="12" name="Chevron 11"/>
          <p:cNvSpPr/>
          <p:nvPr/>
        </p:nvSpPr>
        <p:spPr>
          <a:xfrm>
            <a:off x="4846320" y="2011680"/>
            <a:ext cx="2011680" cy="1645920"/>
          </a:xfrm>
          <a:prstGeom prst="chevron">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3840480"/>
            <a:ext cx="1828800" cy="274320"/>
          </a:xfrm>
          <a:prstGeom prst="rect">
            <a:avLst/>
          </a:prstGeom>
          <a:noFill/>
        </p:spPr>
        <p:txBody>
          <a:bodyPr wrap="square" lIns="0" tIns="0" rIns="0" bIns="0">
            <a:spAutoFit/>
          </a:bodyPr>
          <a:lstStyle/>
          <a:p>
            <a:pPr algn="ctr">
              <a:defRPr sz="1100" b="1">
                <a:solidFill>
                  <a:srgbClr val="0F172A"/>
                </a:solidFill>
                <a:latin typeface="Calibri"/>
              </a:defRPr>
            </a:pPr>
            <a:r>
              <a:t>3. VIEWS DETAILS</a:t>
            </a:r>
          </a:p>
        </p:txBody>
      </p:sp>
      <p:sp>
        <p:nvSpPr>
          <p:cNvPr id="14" name="TextBox 13"/>
          <p:cNvSpPr txBox="1"/>
          <p:nvPr/>
        </p:nvSpPr>
        <p:spPr>
          <a:xfrm>
            <a:off x="4983480" y="4160520"/>
            <a:ext cx="1828800" cy="1645920"/>
          </a:xfrm>
          <a:prstGeom prst="rect">
            <a:avLst/>
          </a:prstGeom>
          <a:noFill/>
        </p:spPr>
        <p:txBody>
          <a:bodyPr wrap="square" lIns="0" tIns="0" rIns="0" bIns="0">
            <a:spAutoFit/>
          </a:bodyPr>
          <a:lstStyle/>
          <a:p>
            <a:pPr algn="ctr">
              <a:defRPr sz="1000" b="0">
                <a:solidFill>
                  <a:srgbClr val="64748B"/>
                </a:solidFill>
                <a:latin typeface="Calibri"/>
              </a:defRPr>
            </a:pPr>
            <a:r>
              <a:t>Checks chemical doses &amp; specs.</a:t>
            </a:r>
          </a:p>
        </p:txBody>
      </p:sp>
      <p:sp>
        <p:nvSpPr>
          <p:cNvPr id="15" name="Chevron 14"/>
          <p:cNvSpPr/>
          <p:nvPr/>
        </p:nvSpPr>
        <p:spPr>
          <a:xfrm>
            <a:off x="6995160" y="2011680"/>
            <a:ext cx="2011680" cy="1645920"/>
          </a:xfrm>
          <a:prstGeom prst="chevron">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3840480"/>
            <a:ext cx="1828800" cy="274320"/>
          </a:xfrm>
          <a:prstGeom prst="rect">
            <a:avLst/>
          </a:prstGeom>
          <a:noFill/>
        </p:spPr>
        <p:txBody>
          <a:bodyPr wrap="square" lIns="0" tIns="0" rIns="0" bIns="0">
            <a:spAutoFit/>
          </a:bodyPr>
          <a:lstStyle/>
          <a:p>
            <a:pPr algn="ctr">
              <a:defRPr sz="1100" b="1">
                <a:solidFill>
                  <a:srgbClr val="0F172A"/>
                </a:solidFill>
                <a:latin typeface="Calibri"/>
              </a:defRPr>
            </a:pPr>
            <a:r>
              <a:t>4. TRIGGERS CTA</a:t>
            </a:r>
          </a:p>
        </p:txBody>
      </p:sp>
      <p:sp>
        <p:nvSpPr>
          <p:cNvPr id="17" name="TextBox 16"/>
          <p:cNvSpPr txBox="1"/>
          <p:nvPr/>
        </p:nvSpPr>
        <p:spPr>
          <a:xfrm>
            <a:off x="7132320" y="4160520"/>
            <a:ext cx="1828800" cy="1645920"/>
          </a:xfrm>
          <a:prstGeom prst="rect">
            <a:avLst/>
          </a:prstGeom>
          <a:noFill/>
        </p:spPr>
        <p:txBody>
          <a:bodyPr wrap="square" lIns="0" tIns="0" rIns="0" bIns="0">
            <a:spAutoFit/>
          </a:bodyPr>
          <a:lstStyle/>
          <a:p>
            <a:pPr algn="ctr">
              <a:defRPr sz="1000" b="0">
                <a:solidFill>
                  <a:srgbClr val="64748B"/>
                </a:solidFill>
                <a:latin typeface="Calibri"/>
              </a:defRPr>
            </a:pPr>
            <a:r>
              <a:t>Clicks Dealer portal / WhatsApp.</a:t>
            </a:r>
          </a:p>
        </p:txBody>
      </p:sp>
      <p:sp>
        <p:nvSpPr>
          <p:cNvPr id="18" name="Chevron 17"/>
          <p:cNvSpPr/>
          <p:nvPr/>
        </p:nvSpPr>
        <p:spPr>
          <a:xfrm>
            <a:off x="9144000" y="2011680"/>
            <a:ext cx="2011680" cy="1645920"/>
          </a:xfrm>
          <a:prstGeom prst="chevron">
            <a:avLst/>
          </a:prstGeom>
          <a:solidFill>
            <a:srgbClr val="0284C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3840480"/>
            <a:ext cx="1828800" cy="274320"/>
          </a:xfrm>
          <a:prstGeom prst="rect">
            <a:avLst/>
          </a:prstGeom>
          <a:noFill/>
        </p:spPr>
        <p:txBody>
          <a:bodyPr wrap="square" lIns="0" tIns="0" rIns="0" bIns="0">
            <a:spAutoFit/>
          </a:bodyPr>
          <a:lstStyle/>
          <a:p>
            <a:pPr algn="ctr">
              <a:defRPr sz="1100" b="1">
                <a:solidFill>
                  <a:srgbClr val="0F172A"/>
                </a:solidFill>
                <a:latin typeface="Calibri"/>
              </a:defRPr>
            </a:pPr>
            <a:r>
              <a:t>5. ENQUIRY / FORM</a:t>
            </a:r>
          </a:p>
        </p:txBody>
      </p:sp>
      <p:sp>
        <p:nvSpPr>
          <p:cNvPr id="20" name="TextBox 19"/>
          <p:cNvSpPr txBox="1"/>
          <p:nvPr/>
        </p:nvSpPr>
        <p:spPr>
          <a:xfrm>
            <a:off x="9281160" y="4160520"/>
            <a:ext cx="1828800" cy="1645920"/>
          </a:xfrm>
          <a:prstGeom prst="rect">
            <a:avLst/>
          </a:prstGeom>
          <a:noFill/>
        </p:spPr>
        <p:txBody>
          <a:bodyPr wrap="square" lIns="0" tIns="0" rIns="0" bIns="0">
            <a:spAutoFit/>
          </a:bodyPr>
          <a:lstStyle/>
          <a:p>
            <a:pPr algn="ctr">
              <a:defRPr sz="1000" b="0">
                <a:solidFill>
                  <a:srgbClr val="64748B"/>
                </a:solidFill>
                <a:latin typeface="Calibri"/>
              </a:defRPr>
            </a:pPr>
            <a:r>
              <a:t>Fills GST details &amp; license info.</a:t>
            </a:r>
          </a:p>
        </p:txBody>
      </p:sp>
      <p:sp>
        <p:nvSpPr>
          <p:cNvPr id="21" name="Rounded Rectangle 20"/>
          <p:cNvSpPr/>
          <p:nvPr/>
        </p:nvSpPr>
        <p:spPr>
          <a:xfrm>
            <a:off x="603504" y="5358384"/>
            <a:ext cx="11094415" cy="9144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5303520"/>
            <a:ext cx="11094415" cy="91440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86400"/>
            <a:ext cx="10728655" cy="548640"/>
          </a:xfrm>
          <a:prstGeom prst="rect">
            <a:avLst/>
          </a:prstGeom>
          <a:noFill/>
        </p:spPr>
        <p:txBody>
          <a:bodyPr wrap="square" lIns="0" tIns="0" rIns="0" bIns="0">
            <a:spAutoFit/>
          </a:bodyPr>
          <a:lstStyle/>
          <a:p>
            <a:pPr algn="ctr">
              <a:defRPr sz="1300" b="1">
                <a:solidFill>
                  <a:srgbClr val="FFFFFF"/>
                </a:solidFill>
                <a:latin typeface="Calibri"/>
              </a:defRPr>
            </a:pPr>
            <a:r>
              <a:t>LEAD CONVERSION POINT: Inquiry logged in MongoDB/Supabase databases immediately sends notification flags to corporate sales managers via Admin CMS Panel.</a:t>
            </a:r>
          </a:p>
        </p:txBody>
      </p:sp>
    </p:spTree>
  </p:cSld>
  <p:transition>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BUSINESS STRATEGY</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Business Benefits of the Platform</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37760" cy="365760"/>
          </a:xfrm>
          <a:prstGeom prst="rect">
            <a:avLst/>
          </a:prstGeom>
          <a:noFill/>
        </p:spPr>
        <p:txBody>
          <a:bodyPr wrap="square" lIns="0" tIns="0" rIns="0" bIns="0">
            <a:spAutoFit/>
          </a:bodyPr>
          <a:lstStyle/>
          <a:p>
            <a:pPr algn="l">
              <a:defRPr sz="1500" b="1">
                <a:solidFill>
                  <a:srgbClr val="0284C7"/>
                </a:solidFill>
                <a:latin typeface="Calibri"/>
              </a:defRPr>
            </a:pPr>
            <a:r>
              <a:t>1. Streamlined B2B Dealer Acquisition</a:t>
            </a:r>
          </a:p>
        </p:txBody>
      </p:sp>
      <p:sp>
        <p:nvSpPr>
          <p:cNvPr id="9" name="TextBox 8"/>
          <p:cNvSpPr txBox="1"/>
          <p:nvPr/>
        </p:nvSpPr>
        <p:spPr>
          <a:xfrm>
            <a:off x="731520" y="2194560"/>
            <a:ext cx="4937760" cy="1280160"/>
          </a:xfrm>
          <a:prstGeom prst="rect">
            <a:avLst/>
          </a:prstGeom>
          <a:noFill/>
        </p:spPr>
        <p:txBody>
          <a:bodyPr wrap="square" lIns="0" tIns="0" rIns="0" bIns="0">
            <a:spAutoFit/>
          </a:bodyPr>
          <a:lstStyle/>
          <a:p>
            <a:pPr algn="l">
              <a:defRPr sz="1100" b="0">
                <a:solidFill>
                  <a:srgbClr val="0F172A"/>
                </a:solidFill>
                <a:latin typeface="Calibri"/>
              </a:defRPr>
            </a:pPr>
            <a:r>
              <a:t>Dealers register via validation forms (providing GST and drug license numbers). This filters unqualified enquiries, saving substantial hours for sales representatives.</a:t>
            </a:r>
          </a:p>
        </p:txBody>
      </p:sp>
      <p:sp>
        <p:nvSpPr>
          <p:cNvPr id="10" name="Rounded Rectangle 9"/>
          <p:cNvSpPr/>
          <p:nvPr/>
        </p:nvSpPr>
        <p:spPr>
          <a:xfrm>
            <a:off x="627278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28800"/>
            <a:ext cx="4937760" cy="365760"/>
          </a:xfrm>
          <a:prstGeom prst="rect">
            <a:avLst/>
          </a:prstGeom>
          <a:noFill/>
        </p:spPr>
        <p:txBody>
          <a:bodyPr wrap="square" lIns="0" tIns="0" rIns="0" bIns="0">
            <a:spAutoFit/>
          </a:bodyPr>
          <a:lstStyle/>
          <a:p>
            <a:pPr algn="l">
              <a:defRPr sz="1500" b="1">
                <a:solidFill>
                  <a:srgbClr val="15803D"/>
                </a:solidFill>
                <a:latin typeface="Calibri"/>
              </a:defRPr>
            </a:pPr>
            <a:r>
              <a:t>2. Expanded Brand Awareness</a:t>
            </a:r>
          </a:p>
        </p:txBody>
      </p:sp>
      <p:sp>
        <p:nvSpPr>
          <p:cNvPr id="13" name="TextBox 12"/>
          <p:cNvSpPr txBox="1"/>
          <p:nvPr/>
        </p:nvSpPr>
        <p:spPr>
          <a:xfrm>
            <a:off x="6400800" y="2194560"/>
            <a:ext cx="4937760" cy="1280160"/>
          </a:xfrm>
          <a:prstGeom prst="rect">
            <a:avLst/>
          </a:prstGeom>
          <a:noFill/>
        </p:spPr>
        <p:txBody>
          <a:bodyPr wrap="square" lIns="0" tIns="0" rIns="0" bIns="0">
            <a:spAutoFit/>
          </a:bodyPr>
          <a:lstStyle/>
          <a:p>
            <a:pPr algn="l">
              <a:defRPr sz="1100" b="0">
                <a:solidFill>
                  <a:srgbClr val="0F172A"/>
                </a:solidFill>
                <a:latin typeface="Calibri"/>
              </a:defRPr>
            </a:pPr>
            <a:r>
              <a:t>Showcases the complete product portfolio (101+ formulations) beyond local Gujarati borders to agricultural networks nationwide.</a:t>
            </a:r>
          </a:p>
        </p:txBody>
      </p:sp>
      <p:sp>
        <p:nvSpPr>
          <p:cNvPr id="14" name="Rounded Rectangle 13"/>
          <p:cNvSpPr/>
          <p:nvPr/>
        </p:nvSpPr>
        <p:spPr>
          <a:xfrm>
            <a:off x="60350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4937760" cy="365760"/>
          </a:xfrm>
          <a:prstGeom prst="rect">
            <a:avLst/>
          </a:prstGeom>
          <a:noFill/>
        </p:spPr>
        <p:txBody>
          <a:bodyPr wrap="square" lIns="0" tIns="0" rIns="0" bIns="0">
            <a:spAutoFit/>
          </a:bodyPr>
          <a:lstStyle/>
          <a:p>
            <a:pPr algn="l">
              <a:defRPr sz="1500" b="1">
                <a:solidFill>
                  <a:srgbClr val="EA580C"/>
                </a:solidFill>
                <a:latin typeface="Calibri"/>
              </a:defRPr>
            </a:pPr>
            <a:r>
              <a:t>3. Round-the-Clock Support Channels</a:t>
            </a:r>
          </a:p>
        </p:txBody>
      </p:sp>
      <p:sp>
        <p:nvSpPr>
          <p:cNvPr id="17" name="TextBox 16"/>
          <p:cNvSpPr txBox="1"/>
          <p:nvPr/>
        </p:nvSpPr>
        <p:spPr>
          <a:xfrm>
            <a:off x="731520" y="4663440"/>
            <a:ext cx="4937760" cy="1280160"/>
          </a:xfrm>
          <a:prstGeom prst="rect">
            <a:avLst/>
          </a:prstGeom>
          <a:noFill/>
        </p:spPr>
        <p:txBody>
          <a:bodyPr wrap="square" lIns="0" tIns="0" rIns="0" bIns="0">
            <a:spAutoFit/>
          </a:bodyPr>
          <a:lstStyle/>
          <a:p>
            <a:pPr algn="l">
              <a:defRPr sz="1100" b="0">
                <a:solidFill>
                  <a:srgbClr val="0F172A"/>
                </a:solidFill>
                <a:latin typeface="Calibri"/>
              </a:defRPr>
            </a:pPr>
            <a:r>
              <a:t>Farmers obtain pest diagnostic solutions, download catalog PDFs, or directly contact customer care at any time of day or night.</a:t>
            </a:r>
          </a:p>
        </p:txBody>
      </p:sp>
      <p:sp>
        <p:nvSpPr>
          <p:cNvPr id="18" name="Rounded Rectangle 17"/>
          <p:cNvSpPr/>
          <p:nvPr/>
        </p:nvSpPr>
        <p:spPr>
          <a:xfrm>
            <a:off x="627278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297680"/>
            <a:ext cx="4937760" cy="365760"/>
          </a:xfrm>
          <a:prstGeom prst="rect">
            <a:avLst/>
          </a:prstGeom>
          <a:noFill/>
        </p:spPr>
        <p:txBody>
          <a:bodyPr wrap="square" lIns="0" tIns="0" rIns="0" bIns="0">
            <a:spAutoFit/>
          </a:bodyPr>
          <a:lstStyle/>
          <a:p>
            <a:pPr algn="l">
              <a:defRPr sz="1500" b="1">
                <a:solidFill>
                  <a:srgbClr val="0F172A"/>
                </a:solidFill>
                <a:latin typeface="Calibri"/>
              </a:defRPr>
            </a:pPr>
            <a:r>
              <a:t>4. Elevated Corporate Trust</a:t>
            </a:r>
          </a:p>
        </p:txBody>
      </p:sp>
      <p:sp>
        <p:nvSpPr>
          <p:cNvPr id="21" name="TextBox 20"/>
          <p:cNvSpPr txBox="1"/>
          <p:nvPr/>
        </p:nvSpPr>
        <p:spPr>
          <a:xfrm>
            <a:off x="6400800" y="4663440"/>
            <a:ext cx="4937760" cy="1280160"/>
          </a:xfrm>
          <a:prstGeom prst="rect">
            <a:avLst/>
          </a:prstGeom>
          <a:noFill/>
        </p:spPr>
        <p:txBody>
          <a:bodyPr wrap="square" lIns="0" tIns="0" rIns="0" bIns="0">
            <a:spAutoFit/>
          </a:bodyPr>
          <a:lstStyle/>
          <a:p>
            <a:pPr algn="l">
              <a:defRPr sz="1100" b="0">
                <a:solidFill>
                  <a:srgbClr val="0F172A"/>
                </a:solidFill>
                <a:latin typeface="Calibri"/>
              </a:defRPr>
            </a:pPr>
            <a:r>
              <a:t>Displays ISO 9001:2015 certifications, raw material quality protocols, and official office locations, building credibility with institutional buyers.</a:t>
            </a:r>
          </a:p>
        </p:txBody>
      </p:sp>
    </p:spTree>
  </p:cSld>
  <p:transition>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WEB MARKETING</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Search Engine Optimization (SEO) Audit</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11094415"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1109441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10545775" cy="365760"/>
          </a:xfrm>
          <a:prstGeom prst="rect">
            <a:avLst/>
          </a:prstGeom>
          <a:noFill/>
        </p:spPr>
        <p:txBody>
          <a:bodyPr wrap="square" lIns="0" tIns="0" rIns="0" bIns="0">
            <a:spAutoFit/>
          </a:bodyPr>
          <a:lstStyle/>
          <a:p>
            <a:pPr algn="l">
              <a:defRPr sz="1800" b="1">
                <a:solidFill>
                  <a:srgbClr val="0284C7"/>
                </a:solidFill>
                <a:latin typeface="Calibri"/>
              </a:defRPr>
            </a:pPr>
            <a:r>
              <a:t>TECHNICAL SEO PARAMETERS</a:t>
            </a:r>
          </a:p>
        </p:txBody>
      </p:sp>
      <p:graphicFrame>
        <p:nvGraphicFramePr>
          <p:cNvPr id="9" name="Table 8"/>
          <p:cNvGraphicFramePr>
            <a:graphicFrameLocks noGrp="1"/>
          </p:cNvGraphicFramePr>
          <p:nvPr/>
        </p:nvGraphicFramePr>
        <p:xfrm>
          <a:off x="822960" y="2286000"/>
          <a:ext cx="10545775" cy="3474720"/>
        </p:xfrm>
        <a:graphic>
          <a:graphicData uri="http://schemas.openxmlformats.org/drawingml/2006/table">
            <a:tbl>
              <a:tblPr firstRow="1" bandRow="1">
                <a:tableStyleId>{5C22544A-7EE6-4342-B048-85BDC9FD1C3A}</a:tableStyleId>
              </a:tblPr>
              <a:tblGrid>
                <a:gridCol w="2286000"/>
                <a:gridCol w="4572000"/>
                <a:gridCol w="3687775"/>
              </a:tblGrid>
              <a:tr h="694944">
                <a:tc>
                  <a:txBody>
                    <a:bodyPr/>
                    <a:lstStyle/>
                    <a:p>
                      <a:pPr>
                        <a:defRPr b="1" sz="1100">
                          <a:solidFill>
                            <a:srgbClr val="FFFFFF"/>
                          </a:solidFill>
                        </a:defRPr>
                      </a:pPr>
                      <a:r>
                        <a:t>SEO Asset</a:t>
                      </a:r>
                    </a:p>
                  </a:txBody>
                  <a:tcPr>
                    <a:solidFill>
                      <a:srgbClr val="0284C7"/>
                    </a:solidFill>
                  </a:tcPr>
                </a:tc>
                <a:tc>
                  <a:txBody>
                    <a:bodyPr/>
                    <a:lstStyle/>
                    <a:p>
                      <a:pPr>
                        <a:defRPr b="1" sz="1100">
                          <a:solidFill>
                            <a:srgbClr val="FFFFFF"/>
                          </a:solidFill>
                        </a:defRPr>
                      </a:pPr>
                      <a:r>
                        <a:t>Current Value / Analysis</a:t>
                      </a:r>
                    </a:p>
                  </a:txBody>
                  <a:tcPr>
                    <a:solidFill>
                      <a:srgbClr val="0284C7"/>
                    </a:solidFill>
                  </a:tcPr>
                </a:tc>
                <a:tc>
                  <a:txBody>
                    <a:bodyPr/>
                    <a:lstStyle/>
                    <a:p>
                      <a:pPr>
                        <a:defRPr b="1" sz="1100">
                          <a:solidFill>
                            <a:srgbClr val="FFFFFF"/>
                          </a:solidFill>
                        </a:defRPr>
                      </a:pPr>
                      <a:r>
                        <a:t>Impact / Suggestion</a:t>
                      </a:r>
                    </a:p>
                  </a:txBody>
                  <a:tcPr>
                    <a:solidFill>
                      <a:srgbClr val="0284C7"/>
                    </a:solidFill>
                  </a:tcPr>
                </a:tc>
              </a:tr>
              <a:tr h="694944">
                <a:tc>
                  <a:txBody>
                    <a:bodyPr/>
                    <a:lstStyle/>
                    <a:p>
                      <a:pPr>
                        <a:defRPr sz="1000">
                          <a:solidFill>
                            <a:srgbClr val="0F172A"/>
                          </a:solidFill>
                        </a:defRPr>
                      </a:pPr>
                      <a:r>
                        <a:t>Meta Title Tag</a:t>
                      </a:r>
                    </a:p>
                  </a:txBody>
                  <a:tcPr/>
                </a:tc>
                <a:tc>
                  <a:txBody>
                    <a:bodyPr/>
                    <a:lstStyle/>
                    <a:p>
                      <a:pPr>
                        <a:defRPr sz="1000">
                          <a:solidFill>
                            <a:srgbClr val="0F172A"/>
                          </a:solidFill>
                        </a:defRPr>
                      </a:pPr>
                      <a:r>
                        <a:t>Dr. CHEMISTAR Crop Care Pvt. Ltd. | Happy Farmers... Happy World</a:t>
                      </a:r>
                    </a:p>
                  </a:txBody>
                  <a:tcPr/>
                </a:tc>
                <a:tc>
                  <a:txBody>
                    <a:bodyPr/>
                    <a:lstStyle/>
                    <a:p>
                      <a:pPr>
                        <a:defRPr sz="1000">
                          <a:solidFill>
                            <a:srgbClr val="0F172A"/>
                          </a:solidFill>
                        </a:defRPr>
                      </a:pPr>
                      <a:r>
                        <a:t>Excellent. Contains brand name &amp; tagline. Highly clickable.</a:t>
                      </a:r>
                    </a:p>
                  </a:txBody>
                  <a:tcPr/>
                </a:tc>
              </a:tr>
              <a:tr h="694944">
                <a:tc>
                  <a:txBody>
                    <a:bodyPr/>
                    <a:lstStyle/>
                    <a:p>
                      <a:pPr>
                        <a:defRPr sz="1000">
                          <a:solidFill>
                            <a:srgbClr val="0F172A"/>
                          </a:solidFill>
                        </a:defRPr>
                      </a:pPr>
                      <a:r>
                        <a:t>Meta Description</a:t>
                      </a:r>
                    </a:p>
                  </a:txBody>
                  <a:tcPr/>
                </a:tc>
                <a:tc>
                  <a:txBody>
                    <a:bodyPr/>
                    <a:lstStyle/>
                    <a:p>
                      <a:pPr>
                        <a:defRPr sz="1000">
                          <a:solidFill>
                            <a:srgbClr val="0F172A"/>
                          </a:solidFill>
                        </a:defRPr>
                      </a:pPr>
                      <a:r>
                        <a:t>ISO 9001:2015 certified agrochemical company. Manufacturers of high-efficiency insecticides, fungicides, herbicides, PGR...</a:t>
                      </a:r>
                    </a:p>
                  </a:txBody>
                  <a:tcPr/>
                </a:tc>
                <a:tc>
                  <a:txBody>
                    <a:bodyPr/>
                    <a:lstStyle/>
                    <a:p>
                      <a:pPr>
                        <a:defRPr sz="1000">
                          <a:solidFill>
                            <a:srgbClr val="0F172A"/>
                          </a:solidFill>
                        </a:defRPr>
                      </a:pPr>
                      <a:r>
                        <a:t>Perfect description. Targets commercial search keywords.</a:t>
                      </a:r>
                    </a:p>
                  </a:txBody>
                  <a:tcPr/>
                </a:tc>
              </a:tr>
              <a:tr h="694944">
                <a:tc>
                  <a:txBody>
                    <a:bodyPr/>
                    <a:lstStyle/>
                    <a:p>
                      <a:pPr>
                        <a:defRPr sz="1000">
                          <a:solidFill>
                            <a:srgbClr val="0F172A"/>
                          </a:solidFill>
                        </a:defRPr>
                      </a:pPr>
                      <a:r>
                        <a:t>URL Structure</a:t>
                      </a:r>
                    </a:p>
                  </a:txBody>
                  <a:tcPr/>
                </a:tc>
                <a:tc>
                  <a:txBody>
                    <a:bodyPr/>
                    <a:lstStyle/>
                    <a:p>
                      <a:pPr>
                        <a:defRPr sz="1000">
                          <a:solidFill>
                            <a:srgbClr val="0F172A"/>
                          </a:solidFill>
                        </a:defRPr>
                      </a:pPr>
                      <a:r>
                        <a:t>Hash-based routing (e.g. /#products). SPA framework routes.</a:t>
                      </a:r>
                    </a:p>
                  </a:txBody>
                  <a:tcPr/>
                </a:tc>
                <a:tc>
                  <a:txBody>
                    <a:bodyPr/>
                    <a:lstStyle/>
                    <a:p>
                      <a:pPr>
                        <a:defRPr sz="1000">
                          <a:solidFill>
                            <a:srgbClr val="0F172A"/>
                          </a:solidFill>
                        </a:defRPr>
                      </a:pPr>
                      <a:r>
                        <a:t>Good for navigation. Suggest SSR fallback for deeper product pages indexing.</a:t>
                      </a:r>
                    </a:p>
                  </a:txBody>
                  <a:tcPr/>
                </a:tc>
              </a:tr>
              <a:tr h="694944">
                <a:tc>
                  <a:txBody>
                    <a:bodyPr/>
                    <a:lstStyle/>
                    <a:p>
                      <a:pPr>
                        <a:defRPr sz="1000">
                          <a:solidFill>
                            <a:srgbClr val="0F172A"/>
                          </a:solidFill>
                        </a:defRPr>
                      </a:pPr>
                      <a:r>
                        <a:t>Image Alt Tags</a:t>
                      </a:r>
                    </a:p>
                  </a:txBody>
                  <a:tcPr/>
                </a:tc>
                <a:tc>
                  <a:txBody>
                    <a:bodyPr/>
                    <a:lstStyle/>
                    <a:p>
                      <a:pPr>
                        <a:defRPr sz="1000">
                          <a:solidFill>
                            <a:srgbClr val="0F172A"/>
                          </a:solidFill>
                        </a:defRPr>
                      </a:pPr>
                      <a:r>
                        <a:t>Image components use product descriptions as alt tags.</a:t>
                      </a:r>
                    </a:p>
                  </a:txBody>
                  <a:tcPr/>
                </a:tc>
                <a:tc>
                  <a:txBody>
                    <a:bodyPr/>
                    <a:lstStyle/>
                    <a:p>
                      <a:pPr>
                        <a:defRPr sz="1000">
                          <a:solidFill>
                            <a:srgbClr val="0F172A"/>
                          </a:solidFill>
                        </a:defRPr>
                      </a:pPr>
                      <a:r>
                        <a:t>A+ for image SEO search. Aids in Google Image discovery.</a:t>
                      </a:r>
                    </a:p>
                  </a:txBody>
                  <a:tcPr/>
                </a:tc>
              </a:tr>
            </a:tbl>
          </a:graphicData>
        </a:graphic>
      </p:graphicFrame>
    </p:spTree>
  </p:cSld>
  <p:transition>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DESIGN AUDIT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UI / UX Interface Review &amp; Critique</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017520" cy="365760"/>
          </a:xfrm>
          <a:prstGeom prst="rect">
            <a:avLst/>
          </a:prstGeom>
          <a:noFill/>
        </p:spPr>
        <p:txBody>
          <a:bodyPr wrap="square" lIns="0" tIns="0" rIns="0" bIns="0">
            <a:spAutoFit/>
          </a:bodyPr>
          <a:lstStyle/>
          <a:p>
            <a:pPr algn="l">
              <a:defRPr sz="1600" b="1">
                <a:solidFill>
                  <a:srgbClr val="15803D"/>
                </a:solidFill>
                <a:latin typeface="Calibri"/>
              </a:defRPr>
            </a:pPr>
            <a:r>
              <a:t>Visual Strengths</a:t>
            </a:r>
          </a:p>
        </p:txBody>
      </p:sp>
      <p:sp>
        <p:nvSpPr>
          <p:cNvPr id="9" name="TextBox 8"/>
          <p:cNvSpPr txBox="1"/>
          <p:nvPr/>
        </p:nvSpPr>
        <p:spPr>
          <a:xfrm>
            <a:off x="731520" y="2377440"/>
            <a:ext cx="3017520" cy="3657600"/>
          </a:xfrm>
          <a:prstGeom prst="rect">
            <a:avLst/>
          </a:prstGeom>
          <a:noFill/>
        </p:spPr>
        <p:txBody>
          <a:bodyPr wrap="square" lIns="0" tIns="0" rIns="0" bIns="0">
            <a:spAutoFit/>
          </a:bodyPr>
          <a:lstStyle/>
          <a:p>
            <a:pPr>
              <a:defRPr sz="1200">
                <a:solidFill>
                  <a:srgbClr val="0F172A"/>
                </a:solidFill>
                <a:latin typeface="Calibri"/>
              </a:defRPr>
            </a:pPr>
            <a:r>
              <a:t>• Vibrant, cohesive color palette matching agricultural themes.</a:t>
            </a:r>
          </a:p>
          <a:p>
            <a:pPr>
              <a:defRPr sz="1200">
                <a:solidFill>
                  <a:srgbClr val="0F172A"/>
                </a:solidFill>
                <a:latin typeface="Calibri"/>
              </a:defRPr>
            </a:pPr>
            <a:r>
              <a:t>• Glassmorphism container cards add modern polish and dimension.</a:t>
            </a:r>
          </a:p>
          <a:p>
            <a:pPr>
              <a:defRPr sz="1200">
                <a:solidFill>
                  <a:srgbClr val="0F172A"/>
                </a:solidFill>
                <a:latin typeface="Calibri"/>
              </a:defRPr>
            </a:pPr>
            <a:r>
              <a:t>• Consistent grids present complex chemical parameters legibly.</a:t>
            </a:r>
          </a:p>
          <a:p>
            <a:pPr>
              <a:defRPr sz="1200">
                <a:solidFill>
                  <a:srgbClr val="0F172A"/>
                </a:solidFill>
                <a:latin typeface="Calibri"/>
              </a:defRPr>
            </a:pPr>
            <a:r>
              <a:t>• High-contrast text hierarchy allows fast scanning of dosages.</a:t>
            </a:r>
          </a:p>
        </p:txBody>
      </p:sp>
      <p:sp>
        <p:nvSpPr>
          <p:cNvPr id="10" name="Rounded Rectangle 9"/>
          <p:cNvSpPr/>
          <p:nvPr/>
        </p:nvSpPr>
        <p:spPr>
          <a:xfrm>
            <a:off x="435254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017520" cy="365760"/>
          </a:xfrm>
          <a:prstGeom prst="rect">
            <a:avLst/>
          </a:prstGeom>
          <a:noFill/>
        </p:spPr>
        <p:txBody>
          <a:bodyPr wrap="square" lIns="0" tIns="0" rIns="0" bIns="0">
            <a:spAutoFit/>
          </a:bodyPr>
          <a:lstStyle/>
          <a:p>
            <a:pPr algn="l">
              <a:defRPr sz="1600" b="1">
                <a:solidFill>
                  <a:srgbClr val="0284C7"/>
                </a:solidFill>
                <a:latin typeface="Calibri"/>
              </a:defRPr>
            </a:pPr>
            <a:r>
              <a:t>Usability Checklist</a:t>
            </a:r>
          </a:p>
        </p:txBody>
      </p:sp>
      <p:sp>
        <p:nvSpPr>
          <p:cNvPr id="13" name="TextBox 12"/>
          <p:cNvSpPr txBox="1"/>
          <p:nvPr/>
        </p:nvSpPr>
        <p:spPr>
          <a:xfrm>
            <a:off x="4480560" y="2377440"/>
            <a:ext cx="3017520" cy="3657600"/>
          </a:xfrm>
          <a:prstGeom prst="rect">
            <a:avLst/>
          </a:prstGeom>
          <a:noFill/>
        </p:spPr>
        <p:txBody>
          <a:bodyPr wrap="square" lIns="0" tIns="0" rIns="0" bIns="0">
            <a:spAutoFit/>
          </a:bodyPr>
          <a:lstStyle/>
          <a:p>
            <a:pPr>
              <a:defRPr sz="1200">
                <a:solidFill>
                  <a:srgbClr val="0F172A"/>
                </a:solidFill>
                <a:latin typeface="Calibri"/>
              </a:defRPr>
            </a:pPr>
            <a:r>
              <a:t>• Hamburger toggle scales smoothly for fat-finger mobile inputs.</a:t>
            </a:r>
          </a:p>
          <a:p>
            <a:pPr>
              <a:defRPr sz="1200">
                <a:solidFill>
                  <a:srgbClr val="0F172A"/>
                </a:solidFill>
                <a:latin typeface="Calibri"/>
              </a:defRPr>
            </a:pPr>
            <a:r>
              <a:t>• Bilingual toggle is prominently fixed in the main header.</a:t>
            </a:r>
          </a:p>
          <a:p>
            <a:pPr>
              <a:defRPr sz="1200">
                <a:solidFill>
                  <a:srgbClr val="0F172A"/>
                </a:solidFill>
                <a:latin typeface="Calibri"/>
              </a:defRPr>
            </a:pPr>
            <a:r>
              <a:t>• Validation prompts help users correct entry errors instantly.</a:t>
            </a:r>
          </a:p>
          <a:p>
            <a:pPr>
              <a:defRPr sz="1200">
                <a:solidFill>
                  <a:srgbClr val="0F172A"/>
                </a:solidFill>
                <a:latin typeface="Calibri"/>
              </a:defRPr>
            </a:pPr>
            <a:r>
              <a:t>• Modal close targets are clear, avoiding trap states.</a:t>
            </a:r>
          </a:p>
        </p:txBody>
      </p:sp>
      <p:sp>
        <p:nvSpPr>
          <p:cNvPr id="14" name="Rounded Rectangle 13"/>
          <p:cNvSpPr/>
          <p:nvPr/>
        </p:nvSpPr>
        <p:spPr>
          <a:xfrm>
            <a:off x="810158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28800"/>
            <a:ext cx="3017520" cy="365760"/>
          </a:xfrm>
          <a:prstGeom prst="rect">
            <a:avLst/>
          </a:prstGeom>
          <a:noFill/>
        </p:spPr>
        <p:txBody>
          <a:bodyPr wrap="square" lIns="0" tIns="0" rIns="0" bIns="0">
            <a:spAutoFit/>
          </a:bodyPr>
          <a:lstStyle/>
          <a:p>
            <a:pPr algn="l">
              <a:defRPr sz="1600" b="1">
                <a:solidFill>
                  <a:srgbClr val="EA580C"/>
                </a:solidFill>
                <a:latin typeface="Calibri"/>
              </a:defRPr>
            </a:pPr>
            <a:r>
              <a:t>Proposed Tweaks</a:t>
            </a:r>
          </a:p>
        </p:txBody>
      </p:sp>
      <p:sp>
        <p:nvSpPr>
          <p:cNvPr id="17" name="TextBox 16"/>
          <p:cNvSpPr txBox="1"/>
          <p:nvPr/>
        </p:nvSpPr>
        <p:spPr>
          <a:xfrm>
            <a:off x="8229600" y="2377440"/>
            <a:ext cx="3017520" cy="3657600"/>
          </a:xfrm>
          <a:prstGeom prst="rect">
            <a:avLst/>
          </a:prstGeom>
          <a:noFill/>
        </p:spPr>
        <p:txBody>
          <a:bodyPr wrap="square" lIns="0" tIns="0" rIns="0" bIns="0">
            <a:spAutoFit/>
          </a:bodyPr>
          <a:lstStyle/>
          <a:p>
            <a:pPr>
              <a:defRPr sz="1200">
                <a:solidFill>
                  <a:srgbClr val="0F172A"/>
                </a:solidFill>
                <a:latin typeface="Calibri"/>
              </a:defRPr>
            </a:pPr>
            <a:r>
              <a:t>• Add a Dark Theme toggle for night-time use in farms.</a:t>
            </a:r>
          </a:p>
          <a:p>
            <a:pPr>
              <a:defRPr sz="1200">
                <a:solidFill>
                  <a:srgbClr val="0F172A"/>
                </a:solidFill>
                <a:latin typeface="Calibri"/>
              </a:defRPr>
            </a:pPr>
            <a:r>
              <a:t>• Increase button click padding areas on mobile ports.</a:t>
            </a:r>
          </a:p>
          <a:p>
            <a:pPr>
              <a:defRPr sz="1200">
                <a:solidFill>
                  <a:srgbClr val="0F172A"/>
                </a:solidFill>
                <a:latin typeface="Calibri"/>
              </a:defRPr>
            </a:pPr>
            <a:r>
              <a:t>• Incorporate a physical PDF Catalogue viewer on products tab.</a:t>
            </a:r>
          </a:p>
          <a:p>
            <a:pPr>
              <a:defRPr sz="1200">
                <a:solidFill>
                  <a:srgbClr val="0F172A"/>
                </a:solidFill>
                <a:latin typeface="Calibri"/>
              </a:defRPr>
            </a:pPr>
            <a:r>
              <a:t>• Offer Gujarati language option alongside Hindi and English.</a:t>
            </a:r>
          </a:p>
        </p:txBody>
      </p:sp>
    </p:spTree>
  </p:cSld>
  <p:transition>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TECHNICAL AUDIT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Website Performance &amp; Speed Scores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LIGHTHOUSE AUDIT ESTIMATES</a:t>
            </a:r>
          </a:p>
        </p:txBody>
      </p:sp>
      <p:sp>
        <p:nvSpPr>
          <p:cNvPr id="9" name="TextBox 8"/>
          <p:cNvSpPr txBox="1"/>
          <p:nvPr/>
        </p:nvSpPr>
        <p:spPr>
          <a:xfrm>
            <a:off x="822960" y="2926080"/>
            <a:ext cx="1828800" cy="274320"/>
          </a:xfrm>
          <a:prstGeom prst="rect">
            <a:avLst/>
          </a:prstGeom>
          <a:noFill/>
        </p:spPr>
        <p:txBody>
          <a:bodyPr wrap="square" lIns="0" tIns="0" rIns="0" bIns="0">
            <a:spAutoFit/>
          </a:bodyPr>
          <a:lstStyle/>
          <a:p>
            <a:pPr algn="l">
              <a:defRPr sz="1200" b="1">
                <a:solidFill>
                  <a:srgbClr val="0F172A"/>
                </a:solidFill>
                <a:latin typeface="Calibri"/>
              </a:defRPr>
            </a:pPr>
            <a:r>
              <a:t>Performance</a:t>
            </a:r>
          </a:p>
        </p:txBody>
      </p:sp>
      <p:sp>
        <p:nvSpPr>
          <p:cNvPr id="10" name="Rectangle 9"/>
          <p:cNvSpPr/>
          <p:nvPr/>
        </p:nvSpPr>
        <p:spPr>
          <a:xfrm>
            <a:off x="2743200" y="2971800"/>
            <a:ext cx="2286000" cy="137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0" y="2971800"/>
            <a:ext cx="2103120" cy="1371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880360"/>
            <a:ext cx="731520" cy="274320"/>
          </a:xfrm>
          <a:prstGeom prst="rect">
            <a:avLst/>
          </a:prstGeom>
          <a:noFill/>
        </p:spPr>
        <p:txBody>
          <a:bodyPr wrap="square" lIns="0" tIns="0" rIns="0" bIns="0">
            <a:spAutoFit/>
          </a:bodyPr>
          <a:lstStyle/>
          <a:p>
            <a:pPr algn="l">
              <a:defRPr sz="1200" b="1">
                <a:solidFill>
                  <a:srgbClr val="0284C7"/>
                </a:solidFill>
                <a:latin typeface="Calibri"/>
              </a:defRPr>
            </a:pPr>
            <a:r>
              <a:t>94%</a:t>
            </a:r>
          </a:p>
        </p:txBody>
      </p:sp>
      <p:sp>
        <p:nvSpPr>
          <p:cNvPr id="13" name="TextBox 12"/>
          <p:cNvSpPr txBox="1"/>
          <p:nvPr/>
        </p:nvSpPr>
        <p:spPr>
          <a:xfrm>
            <a:off x="822960" y="3840480"/>
            <a:ext cx="1828800" cy="274320"/>
          </a:xfrm>
          <a:prstGeom prst="rect">
            <a:avLst/>
          </a:prstGeom>
          <a:noFill/>
        </p:spPr>
        <p:txBody>
          <a:bodyPr wrap="square" lIns="0" tIns="0" rIns="0" bIns="0">
            <a:spAutoFit/>
          </a:bodyPr>
          <a:lstStyle/>
          <a:p>
            <a:pPr algn="l">
              <a:defRPr sz="1200" b="1">
                <a:solidFill>
                  <a:srgbClr val="0F172A"/>
                </a:solidFill>
                <a:latin typeface="Calibri"/>
              </a:defRPr>
            </a:pPr>
            <a:r>
              <a:t>Accessibility</a:t>
            </a:r>
          </a:p>
        </p:txBody>
      </p:sp>
      <p:sp>
        <p:nvSpPr>
          <p:cNvPr id="14" name="Rectangle 13"/>
          <p:cNvSpPr/>
          <p:nvPr/>
        </p:nvSpPr>
        <p:spPr>
          <a:xfrm>
            <a:off x="2743200" y="3886200"/>
            <a:ext cx="2286000" cy="137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3886200"/>
            <a:ext cx="2103120" cy="13716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794760"/>
            <a:ext cx="731520" cy="274320"/>
          </a:xfrm>
          <a:prstGeom prst="rect">
            <a:avLst/>
          </a:prstGeom>
          <a:noFill/>
        </p:spPr>
        <p:txBody>
          <a:bodyPr wrap="square" lIns="0" tIns="0" rIns="0" bIns="0">
            <a:spAutoFit/>
          </a:bodyPr>
          <a:lstStyle/>
          <a:p>
            <a:pPr algn="l">
              <a:defRPr sz="1200" b="1">
                <a:solidFill>
                  <a:srgbClr val="15803D"/>
                </a:solidFill>
                <a:latin typeface="Calibri"/>
              </a:defRPr>
            </a:pPr>
            <a:r>
              <a:t>98%</a:t>
            </a:r>
          </a:p>
        </p:txBody>
      </p:sp>
      <p:sp>
        <p:nvSpPr>
          <p:cNvPr id="17" name="TextBox 16"/>
          <p:cNvSpPr txBox="1"/>
          <p:nvPr/>
        </p:nvSpPr>
        <p:spPr>
          <a:xfrm>
            <a:off x="822960" y="4754879"/>
            <a:ext cx="1828800" cy="274320"/>
          </a:xfrm>
          <a:prstGeom prst="rect">
            <a:avLst/>
          </a:prstGeom>
          <a:noFill/>
        </p:spPr>
        <p:txBody>
          <a:bodyPr wrap="square" lIns="0" tIns="0" rIns="0" bIns="0">
            <a:spAutoFit/>
          </a:bodyPr>
          <a:lstStyle/>
          <a:p>
            <a:pPr algn="l">
              <a:defRPr sz="1200" b="1">
                <a:solidFill>
                  <a:srgbClr val="0F172A"/>
                </a:solidFill>
                <a:latin typeface="Calibri"/>
              </a:defRPr>
            </a:pPr>
            <a:r>
              <a:t>Best Practices</a:t>
            </a:r>
          </a:p>
        </p:txBody>
      </p:sp>
      <p:sp>
        <p:nvSpPr>
          <p:cNvPr id="18" name="Rectangle 17"/>
          <p:cNvSpPr/>
          <p:nvPr/>
        </p:nvSpPr>
        <p:spPr>
          <a:xfrm>
            <a:off x="2743200" y="4800599"/>
            <a:ext cx="2286000" cy="137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0" y="4800599"/>
            <a:ext cx="210312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4709159"/>
            <a:ext cx="731520" cy="274320"/>
          </a:xfrm>
          <a:prstGeom prst="rect">
            <a:avLst/>
          </a:prstGeom>
          <a:noFill/>
        </p:spPr>
        <p:txBody>
          <a:bodyPr wrap="square" lIns="0" tIns="0" rIns="0" bIns="0">
            <a:spAutoFit/>
          </a:bodyPr>
          <a:lstStyle/>
          <a:p>
            <a:pPr algn="l">
              <a:defRPr sz="1200" b="1">
                <a:solidFill>
                  <a:srgbClr val="EA580C"/>
                </a:solidFill>
                <a:latin typeface="Calibri"/>
              </a:defRPr>
            </a:pPr>
            <a:r>
              <a:t>95%</a:t>
            </a:r>
          </a:p>
        </p:txBody>
      </p:sp>
      <p:sp>
        <p:nvSpPr>
          <p:cNvPr id="21" name="TextBox 20"/>
          <p:cNvSpPr txBox="1"/>
          <p:nvPr/>
        </p:nvSpPr>
        <p:spPr>
          <a:xfrm>
            <a:off x="822960" y="5669279"/>
            <a:ext cx="1828800" cy="274320"/>
          </a:xfrm>
          <a:prstGeom prst="rect">
            <a:avLst/>
          </a:prstGeom>
          <a:noFill/>
        </p:spPr>
        <p:txBody>
          <a:bodyPr wrap="square" lIns="0" tIns="0" rIns="0" bIns="0">
            <a:spAutoFit/>
          </a:bodyPr>
          <a:lstStyle/>
          <a:p>
            <a:pPr algn="l">
              <a:defRPr sz="1200" b="1">
                <a:solidFill>
                  <a:srgbClr val="0F172A"/>
                </a:solidFill>
                <a:latin typeface="Calibri"/>
              </a:defRPr>
            </a:pPr>
            <a:r>
              <a:t>SEO Score</a:t>
            </a:r>
          </a:p>
        </p:txBody>
      </p:sp>
      <p:sp>
        <p:nvSpPr>
          <p:cNvPr id="22" name="Rectangle 21"/>
          <p:cNvSpPr/>
          <p:nvPr/>
        </p:nvSpPr>
        <p:spPr>
          <a:xfrm>
            <a:off x="2743200" y="5714999"/>
            <a:ext cx="2286000" cy="137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0" y="5714999"/>
            <a:ext cx="2103120" cy="13716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5623559"/>
            <a:ext cx="731520" cy="274320"/>
          </a:xfrm>
          <a:prstGeom prst="rect">
            <a:avLst/>
          </a:prstGeom>
          <a:noFill/>
        </p:spPr>
        <p:txBody>
          <a:bodyPr wrap="square" lIns="0" tIns="0" rIns="0" bIns="0">
            <a:spAutoFit/>
          </a:bodyPr>
          <a:lstStyle/>
          <a:p>
            <a:pPr algn="l">
              <a:defRPr sz="1200" b="1">
                <a:solidFill>
                  <a:srgbClr val="15803D"/>
                </a:solidFill>
                <a:latin typeface="Calibri"/>
              </a:defRPr>
            </a:pPr>
            <a:r>
              <a:t>100%</a:t>
            </a:r>
          </a:p>
        </p:txBody>
      </p:sp>
      <p:sp>
        <p:nvSpPr>
          <p:cNvPr id="25" name="Rounded Rectangle 24"/>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15803D"/>
                </a:solidFill>
                <a:latin typeface="Calibri"/>
              </a:defRPr>
            </a:pPr>
            <a:r>
              <a:t>OPTIMIZATION BREAKDOWN</a:t>
            </a:r>
          </a:p>
        </p:txBody>
      </p:sp>
      <p:sp>
        <p:nvSpPr>
          <p:cNvPr id="28" name="TextBox 27"/>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Vite Bundling: Compiles Javascript assets into split chunks. Minimizes initial payload sizes.</a:t>
            </a:r>
          </a:p>
          <a:p>
            <a:pPr>
              <a:defRPr sz="1300">
                <a:solidFill>
                  <a:srgbClr val="0F172A"/>
                </a:solidFill>
                <a:latin typeface="Calibri"/>
              </a:defRPr>
            </a:pPr>
            <a:r>
              <a:t>• Tailwind CSS Purge: Unused utility selectors are trimmed at build time, yielding small style files.</a:t>
            </a:r>
          </a:p>
          <a:p>
            <a:pPr>
              <a:defRPr sz="1300">
                <a:solidFill>
                  <a:srgbClr val="0F172A"/>
                </a:solidFill>
                <a:latin typeface="Calibri"/>
              </a:defRPr>
            </a:pPr>
            <a:r>
              <a:t>• Static JSON Catalog: Product data loads locally, avoiding redundant REST database overhead on page changes.</a:t>
            </a:r>
          </a:p>
          <a:p>
            <a:pPr>
              <a:defRPr sz="1300">
                <a:solidFill>
                  <a:srgbClr val="0F172A"/>
                </a:solidFill>
                <a:latin typeface="Calibri"/>
              </a:defRPr>
            </a:pPr>
            <a:r>
              <a:t>• Optimized Images: Raster logos are compressed, ensuring fast loads under weak rural networks.</a:t>
            </a:r>
          </a:p>
        </p:txBody>
      </p:sp>
    </p:spTree>
  </p:cSld>
  <p:transition>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TECHNICAL AUDIT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Security &amp; Data Safeguards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11094415" cy="960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11094415"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91440" cy="9601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83080"/>
            <a:ext cx="2743200" cy="365760"/>
          </a:xfrm>
          <a:prstGeom prst="rect">
            <a:avLst/>
          </a:prstGeom>
          <a:noFill/>
        </p:spPr>
        <p:txBody>
          <a:bodyPr wrap="square" lIns="0" tIns="0" rIns="0" bIns="0">
            <a:spAutoFit/>
          </a:bodyPr>
          <a:lstStyle/>
          <a:p>
            <a:pPr algn="l">
              <a:defRPr sz="1400" b="1">
                <a:solidFill>
                  <a:srgbClr val="0284C7"/>
                </a:solidFill>
                <a:latin typeface="Calibri"/>
              </a:defRPr>
            </a:pPr>
            <a:r>
              <a:t>HTTPS / SSL Protocol</a:t>
            </a:r>
          </a:p>
        </p:txBody>
      </p:sp>
      <p:sp>
        <p:nvSpPr>
          <p:cNvPr id="10" name="TextBox 9"/>
          <p:cNvSpPr txBox="1"/>
          <p:nvPr/>
        </p:nvSpPr>
        <p:spPr>
          <a:xfrm>
            <a:off x="3657600" y="1783080"/>
            <a:ext cx="7772400" cy="731520"/>
          </a:xfrm>
          <a:prstGeom prst="rect">
            <a:avLst/>
          </a:prstGeom>
          <a:noFill/>
        </p:spPr>
        <p:txBody>
          <a:bodyPr wrap="square" lIns="0" tIns="0" rIns="0" bIns="0">
            <a:spAutoFit/>
          </a:bodyPr>
          <a:lstStyle/>
          <a:p>
            <a:pPr algn="l">
              <a:defRPr sz="1100" b="0">
                <a:solidFill>
                  <a:srgbClr val="0F172A"/>
                </a:solidFill>
                <a:latin typeface="Calibri"/>
              </a:defRPr>
            </a:pPr>
            <a:r>
              <a:t>Encrypts communication between user browsers and backend servers, securing registration details.</a:t>
            </a:r>
          </a:p>
        </p:txBody>
      </p:sp>
      <p:sp>
        <p:nvSpPr>
          <p:cNvPr id="11" name="Rounded Rectangle 10"/>
          <p:cNvSpPr/>
          <p:nvPr/>
        </p:nvSpPr>
        <p:spPr>
          <a:xfrm>
            <a:off x="603504" y="2798064"/>
            <a:ext cx="11094415" cy="960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743200"/>
            <a:ext cx="11094415"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743200"/>
            <a:ext cx="91440" cy="9601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0360"/>
            <a:ext cx="2743200" cy="365760"/>
          </a:xfrm>
          <a:prstGeom prst="rect">
            <a:avLst/>
          </a:prstGeom>
          <a:noFill/>
        </p:spPr>
        <p:txBody>
          <a:bodyPr wrap="square" lIns="0" tIns="0" rIns="0" bIns="0">
            <a:spAutoFit/>
          </a:bodyPr>
          <a:lstStyle/>
          <a:p>
            <a:pPr algn="l">
              <a:defRPr sz="1400" b="1">
                <a:solidFill>
                  <a:srgbClr val="15803D"/>
                </a:solidFill>
                <a:latin typeface="Calibri"/>
              </a:defRPr>
            </a:pPr>
            <a:r>
              <a:t>Rate Limiter (Express)</a:t>
            </a:r>
          </a:p>
        </p:txBody>
      </p:sp>
      <p:sp>
        <p:nvSpPr>
          <p:cNvPr id="15" name="TextBox 14"/>
          <p:cNvSpPr txBox="1"/>
          <p:nvPr/>
        </p:nvSpPr>
        <p:spPr>
          <a:xfrm>
            <a:off x="3657600" y="2880360"/>
            <a:ext cx="7772400" cy="731520"/>
          </a:xfrm>
          <a:prstGeom prst="rect">
            <a:avLst/>
          </a:prstGeom>
          <a:noFill/>
        </p:spPr>
        <p:txBody>
          <a:bodyPr wrap="square" lIns="0" tIns="0" rIns="0" bIns="0">
            <a:spAutoFit/>
          </a:bodyPr>
          <a:lstStyle/>
          <a:p>
            <a:pPr algn="l">
              <a:defRPr sz="1100" b="0">
                <a:solidFill>
                  <a:srgbClr val="0F172A"/>
                </a:solidFill>
                <a:latin typeface="Calibri"/>
              </a:defRPr>
            </a:pPr>
            <a:r>
              <a:t>Throttles brute-force attempts on Admin CMS and limits excessive contact form submissions.</a:t>
            </a:r>
          </a:p>
        </p:txBody>
      </p:sp>
      <p:sp>
        <p:nvSpPr>
          <p:cNvPr id="16" name="Rounded Rectangle 15"/>
          <p:cNvSpPr/>
          <p:nvPr/>
        </p:nvSpPr>
        <p:spPr>
          <a:xfrm>
            <a:off x="603504" y="3895344"/>
            <a:ext cx="11094415" cy="960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840480"/>
            <a:ext cx="11094415"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40480"/>
            <a:ext cx="91440" cy="9601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77640"/>
            <a:ext cx="2743200" cy="365760"/>
          </a:xfrm>
          <a:prstGeom prst="rect">
            <a:avLst/>
          </a:prstGeom>
          <a:noFill/>
        </p:spPr>
        <p:txBody>
          <a:bodyPr wrap="square" lIns="0" tIns="0" rIns="0" bIns="0">
            <a:spAutoFit/>
          </a:bodyPr>
          <a:lstStyle/>
          <a:p>
            <a:pPr algn="l">
              <a:defRPr sz="1400" b="1">
                <a:solidFill>
                  <a:srgbClr val="EA580C"/>
                </a:solidFill>
                <a:latin typeface="Calibri"/>
              </a:defRPr>
            </a:pPr>
            <a:r>
              <a:t>Input Validation schemas</a:t>
            </a:r>
          </a:p>
        </p:txBody>
      </p:sp>
      <p:sp>
        <p:nvSpPr>
          <p:cNvPr id="20" name="TextBox 19"/>
          <p:cNvSpPr txBox="1"/>
          <p:nvPr/>
        </p:nvSpPr>
        <p:spPr>
          <a:xfrm>
            <a:off x="3657600" y="3977640"/>
            <a:ext cx="7772400" cy="731520"/>
          </a:xfrm>
          <a:prstGeom prst="rect">
            <a:avLst/>
          </a:prstGeom>
          <a:noFill/>
        </p:spPr>
        <p:txBody>
          <a:bodyPr wrap="square" lIns="0" tIns="0" rIns="0" bIns="0">
            <a:spAutoFit/>
          </a:bodyPr>
          <a:lstStyle/>
          <a:p>
            <a:pPr algn="l">
              <a:defRPr sz="1100" b="0">
                <a:solidFill>
                  <a:srgbClr val="0F172A"/>
                </a:solidFill>
                <a:latin typeface="Calibri"/>
              </a:defRPr>
            </a:pPr>
            <a:r>
              <a:t>Uses Mongoose and express-validator to scrub database writes, blocking injection exploits.</a:t>
            </a:r>
          </a:p>
        </p:txBody>
      </p:sp>
      <p:sp>
        <p:nvSpPr>
          <p:cNvPr id="21" name="Rounded Rectangle 20"/>
          <p:cNvSpPr/>
          <p:nvPr/>
        </p:nvSpPr>
        <p:spPr>
          <a:xfrm>
            <a:off x="603504" y="4992624"/>
            <a:ext cx="11094415" cy="960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937760"/>
            <a:ext cx="11094415"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937760"/>
            <a:ext cx="91440"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74920"/>
            <a:ext cx="2743200" cy="365760"/>
          </a:xfrm>
          <a:prstGeom prst="rect">
            <a:avLst/>
          </a:prstGeom>
          <a:noFill/>
        </p:spPr>
        <p:txBody>
          <a:bodyPr wrap="square" lIns="0" tIns="0" rIns="0" bIns="0">
            <a:spAutoFit/>
          </a:bodyPr>
          <a:lstStyle/>
          <a:p>
            <a:pPr algn="l">
              <a:defRPr sz="1400" b="1">
                <a:solidFill>
                  <a:srgbClr val="0F172A"/>
                </a:solidFill>
                <a:latin typeface="Calibri"/>
              </a:defRPr>
            </a:pPr>
            <a:r>
              <a:t>Bcrypt Password Hashing</a:t>
            </a:r>
          </a:p>
        </p:txBody>
      </p:sp>
      <p:sp>
        <p:nvSpPr>
          <p:cNvPr id="25" name="TextBox 24"/>
          <p:cNvSpPr txBox="1"/>
          <p:nvPr/>
        </p:nvSpPr>
        <p:spPr>
          <a:xfrm>
            <a:off x="3657600" y="5074920"/>
            <a:ext cx="7772400" cy="731520"/>
          </a:xfrm>
          <a:prstGeom prst="rect">
            <a:avLst/>
          </a:prstGeom>
          <a:noFill/>
        </p:spPr>
        <p:txBody>
          <a:bodyPr wrap="square" lIns="0" tIns="0" rIns="0" bIns="0">
            <a:spAutoFit/>
          </a:bodyPr>
          <a:lstStyle/>
          <a:p>
            <a:pPr algn="l">
              <a:defRPr sz="1100" b="0">
                <a:solidFill>
                  <a:srgbClr val="0F172A"/>
                </a:solidFill>
                <a:latin typeface="Calibri"/>
              </a:defRPr>
            </a:pPr>
            <a:r>
              <a:t>Hashes admin profile credentials securely using salted algorithms, halting raw database leaks.</a:t>
            </a:r>
          </a:p>
        </p:txBody>
      </p:sp>
    </p:spTree>
  </p:cSld>
  <p:transition>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TECHNICAL ARCHITECTURE</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Technology Stack Blueprint</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2724912"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272491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28800"/>
            <a:ext cx="2450592" cy="274320"/>
          </a:xfrm>
          <a:prstGeom prst="rect">
            <a:avLst/>
          </a:prstGeom>
          <a:noFill/>
        </p:spPr>
        <p:txBody>
          <a:bodyPr wrap="square" lIns="0" tIns="0" rIns="0" bIns="0">
            <a:spAutoFit/>
          </a:bodyPr>
          <a:lstStyle/>
          <a:p>
            <a:pPr algn="l">
              <a:defRPr sz="1300" b="1">
                <a:solidFill>
                  <a:srgbClr val="0284C7"/>
                </a:solidFill>
                <a:latin typeface="Calibri"/>
              </a:defRPr>
            </a:pPr>
            <a:r>
              <a:t>FRONTEND LAYER</a:t>
            </a:r>
          </a:p>
        </p:txBody>
      </p:sp>
      <p:sp>
        <p:nvSpPr>
          <p:cNvPr id="9" name="TextBox 8"/>
          <p:cNvSpPr txBox="1"/>
          <p:nvPr/>
        </p:nvSpPr>
        <p:spPr>
          <a:xfrm>
            <a:off x="685800" y="2057400"/>
            <a:ext cx="2450592" cy="274320"/>
          </a:xfrm>
          <a:prstGeom prst="rect">
            <a:avLst/>
          </a:prstGeom>
          <a:noFill/>
        </p:spPr>
        <p:txBody>
          <a:bodyPr wrap="square" lIns="0" tIns="0" rIns="0" bIns="0">
            <a:spAutoFit/>
          </a:bodyPr>
          <a:lstStyle/>
          <a:p>
            <a:pPr algn="l">
              <a:defRPr sz="1000" b="0">
                <a:solidFill>
                  <a:srgbClr val="64748B"/>
                </a:solidFill>
                <a:latin typeface="Calibri"/>
              </a:defRPr>
            </a:pPr>
            <a:r>
              <a:t>User Interface</a:t>
            </a:r>
          </a:p>
        </p:txBody>
      </p:sp>
      <p:sp>
        <p:nvSpPr>
          <p:cNvPr id="10" name="Rectangle 9"/>
          <p:cNvSpPr/>
          <p:nvPr/>
        </p:nvSpPr>
        <p:spPr>
          <a:xfrm>
            <a:off x="685800" y="237744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60320"/>
            <a:ext cx="2450592" cy="3474720"/>
          </a:xfrm>
          <a:prstGeom prst="rect">
            <a:avLst/>
          </a:prstGeom>
          <a:noFill/>
        </p:spPr>
        <p:txBody>
          <a:bodyPr wrap="square" lIns="0" tIns="0" rIns="0" bIns="0">
            <a:spAutoFit/>
          </a:bodyPr>
          <a:lstStyle/>
          <a:p>
            <a:pPr>
              <a:defRPr sz="1100">
                <a:solidFill>
                  <a:srgbClr val="0F172A"/>
                </a:solidFill>
                <a:latin typeface="Calibri"/>
              </a:defRPr>
            </a:pPr>
            <a:r>
              <a:t>• React 18 (SPA)</a:t>
            </a:r>
          </a:p>
          <a:p>
            <a:pPr>
              <a:defRPr sz="1100">
                <a:solidFill>
                  <a:srgbClr val="0F172A"/>
                </a:solidFill>
                <a:latin typeface="Calibri"/>
              </a:defRPr>
            </a:pPr>
            <a:r>
              <a:t>• Vite Compiler</a:t>
            </a:r>
          </a:p>
          <a:p>
            <a:pPr>
              <a:defRPr sz="1100">
                <a:solidFill>
                  <a:srgbClr val="0F172A"/>
                </a:solidFill>
                <a:latin typeface="Calibri"/>
              </a:defRPr>
            </a:pPr>
            <a:r>
              <a:t>• Tailwind CSS Styling</a:t>
            </a:r>
          </a:p>
          <a:p>
            <a:pPr>
              <a:defRPr sz="1100">
                <a:solidFill>
                  <a:srgbClr val="0F172A"/>
                </a:solidFill>
                <a:latin typeface="Calibri"/>
              </a:defRPr>
            </a:pPr>
            <a:r>
              <a:t>• Lucide React Icons</a:t>
            </a:r>
          </a:p>
          <a:p>
            <a:pPr>
              <a:defRPr sz="1100">
                <a:solidFill>
                  <a:srgbClr val="0F172A"/>
                </a:solidFill>
                <a:latin typeface="Calibri"/>
              </a:defRPr>
            </a:pPr>
            <a:r>
              <a:t>• Bilingual translation script</a:t>
            </a:r>
          </a:p>
        </p:txBody>
      </p:sp>
      <p:sp>
        <p:nvSpPr>
          <p:cNvPr id="12" name="Rounded Rectangle 11"/>
          <p:cNvSpPr/>
          <p:nvPr/>
        </p:nvSpPr>
        <p:spPr>
          <a:xfrm>
            <a:off x="3392424" y="1700784"/>
            <a:ext cx="2724912"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1645920"/>
            <a:ext cx="272491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828800"/>
            <a:ext cx="2450592" cy="274320"/>
          </a:xfrm>
          <a:prstGeom prst="rect">
            <a:avLst/>
          </a:prstGeom>
          <a:noFill/>
        </p:spPr>
        <p:txBody>
          <a:bodyPr wrap="square" lIns="0" tIns="0" rIns="0" bIns="0">
            <a:spAutoFit/>
          </a:bodyPr>
          <a:lstStyle/>
          <a:p>
            <a:pPr algn="l">
              <a:defRPr sz="1300" b="1">
                <a:solidFill>
                  <a:srgbClr val="15803D"/>
                </a:solidFill>
                <a:latin typeface="Calibri"/>
              </a:defRPr>
            </a:pPr>
            <a:r>
              <a:t>BACKEND ENGINE</a:t>
            </a:r>
          </a:p>
        </p:txBody>
      </p:sp>
      <p:sp>
        <p:nvSpPr>
          <p:cNvPr id="15" name="TextBox 14"/>
          <p:cNvSpPr txBox="1"/>
          <p:nvPr/>
        </p:nvSpPr>
        <p:spPr>
          <a:xfrm>
            <a:off x="3474720" y="2057400"/>
            <a:ext cx="2450592" cy="274320"/>
          </a:xfrm>
          <a:prstGeom prst="rect">
            <a:avLst/>
          </a:prstGeom>
          <a:noFill/>
        </p:spPr>
        <p:txBody>
          <a:bodyPr wrap="square" lIns="0" tIns="0" rIns="0" bIns="0">
            <a:spAutoFit/>
          </a:bodyPr>
          <a:lstStyle/>
          <a:p>
            <a:pPr algn="l">
              <a:defRPr sz="1000" b="0">
                <a:solidFill>
                  <a:srgbClr val="64748B"/>
                </a:solidFill>
                <a:latin typeface="Calibri"/>
              </a:defRPr>
            </a:pPr>
            <a:r>
              <a:t>Server Logic</a:t>
            </a:r>
          </a:p>
        </p:txBody>
      </p:sp>
      <p:sp>
        <p:nvSpPr>
          <p:cNvPr id="16" name="Rectangle 15"/>
          <p:cNvSpPr/>
          <p:nvPr/>
        </p:nvSpPr>
        <p:spPr>
          <a:xfrm>
            <a:off x="3474720" y="237744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2560320"/>
            <a:ext cx="2450592" cy="3474720"/>
          </a:xfrm>
          <a:prstGeom prst="rect">
            <a:avLst/>
          </a:prstGeom>
          <a:noFill/>
        </p:spPr>
        <p:txBody>
          <a:bodyPr wrap="square" lIns="0" tIns="0" rIns="0" bIns="0">
            <a:spAutoFit/>
          </a:bodyPr>
          <a:lstStyle/>
          <a:p>
            <a:pPr>
              <a:defRPr sz="1100">
                <a:solidFill>
                  <a:srgbClr val="0F172A"/>
                </a:solidFill>
                <a:latin typeface="Calibri"/>
              </a:defRPr>
            </a:pPr>
            <a:r>
              <a:t>• Node.js Runtime</a:t>
            </a:r>
          </a:p>
          <a:p>
            <a:pPr>
              <a:defRPr sz="1100">
                <a:solidFill>
                  <a:srgbClr val="0F172A"/>
                </a:solidFill>
                <a:latin typeface="Calibri"/>
              </a:defRPr>
            </a:pPr>
            <a:r>
              <a:t>• Express Framework</a:t>
            </a:r>
          </a:p>
          <a:p>
            <a:pPr>
              <a:defRPr sz="1100">
                <a:solidFill>
                  <a:srgbClr val="0F172A"/>
                </a:solidFill>
                <a:latin typeface="Calibri"/>
              </a:defRPr>
            </a:pPr>
            <a:r>
              <a:t>• Helmet Security</a:t>
            </a:r>
          </a:p>
          <a:p>
            <a:pPr>
              <a:defRPr sz="1100">
                <a:solidFill>
                  <a:srgbClr val="0F172A"/>
                </a:solidFill>
                <a:latin typeface="Calibri"/>
              </a:defRPr>
            </a:pPr>
            <a:r>
              <a:t>• Bcrypt Hashing</a:t>
            </a:r>
          </a:p>
          <a:p>
            <a:pPr>
              <a:defRPr sz="1100">
                <a:solidFill>
                  <a:srgbClr val="0F172A"/>
                </a:solidFill>
                <a:latin typeface="Calibri"/>
              </a:defRPr>
            </a:pPr>
            <a:r>
              <a:t>• Rate Limiting limits</a:t>
            </a:r>
          </a:p>
        </p:txBody>
      </p:sp>
      <p:sp>
        <p:nvSpPr>
          <p:cNvPr id="18" name="Rounded Rectangle 17"/>
          <p:cNvSpPr/>
          <p:nvPr/>
        </p:nvSpPr>
        <p:spPr>
          <a:xfrm>
            <a:off x="6181344" y="1700784"/>
            <a:ext cx="2724912"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26480" y="1645920"/>
            <a:ext cx="272491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828800"/>
            <a:ext cx="2450592" cy="274320"/>
          </a:xfrm>
          <a:prstGeom prst="rect">
            <a:avLst/>
          </a:prstGeom>
          <a:noFill/>
        </p:spPr>
        <p:txBody>
          <a:bodyPr wrap="square" lIns="0" tIns="0" rIns="0" bIns="0">
            <a:spAutoFit/>
          </a:bodyPr>
          <a:lstStyle/>
          <a:p>
            <a:pPr algn="l">
              <a:defRPr sz="1300" b="1">
                <a:solidFill>
                  <a:srgbClr val="EA580C"/>
                </a:solidFill>
                <a:latin typeface="Calibri"/>
              </a:defRPr>
            </a:pPr>
            <a:r>
              <a:t>DATABASE LAYER</a:t>
            </a:r>
          </a:p>
        </p:txBody>
      </p:sp>
      <p:sp>
        <p:nvSpPr>
          <p:cNvPr id="21" name="TextBox 20"/>
          <p:cNvSpPr txBox="1"/>
          <p:nvPr/>
        </p:nvSpPr>
        <p:spPr>
          <a:xfrm>
            <a:off x="6263640" y="2057400"/>
            <a:ext cx="2450592" cy="274320"/>
          </a:xfrm>
          <a:prstGeom prst="rect">
            <a:avLst/>
          </a:prstGeom>
          <a:noFill/>
        </p:spPr>
        <p:txBody>
          <a:bodyPr wrap="square" lIns="0" tIns="0" rIns="0" bIns="0">
            <a:spAutoFit/>
          </a:bodyPr>
          <a:lstStyle/>
          <a:p>
            <a:pPr algn="l">
              <a:defRPr sz="1000" b="0">
                <a:solidFill>
                  <a:srgbClr val="64748B"/>
                </a:solidFill>
                <a:latin typeface="Calibri"/>
              </a:defRPr>
            </a:pPr>
            <a:r>
              <a:t>Data Storage</a:t>
            </a:r>
          </a:p>
        </p:txBody>
      </p:sp>
      <p:sp>
        <p:nvSpPr>
          <p:cNvPr id="22" name="Rectangle 21"/>
          <p:cNvSpPr/>
          <p:nvPr/>
        </p:nvSpPr>
        <p:spPr>
          <a:xfrm>
            <a:off x="6263640" y="237744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2560320"/>
            <a:ext cx="2450592" cy="3474720"/>
          </a:xfrm>
          <a:prstGeom prst="rect">
            <a:avLst/>
          </a:prstGeom>
          <a:noFill/>
        </p:spPr>
        <p:txBody>
          <a:bodyPr wrap="square" lIns="0" tIns="0" rIns="0" bIns="0">
            <a:spAutoFit/>
          </a:bodyPr>
          <a:lstStyle/>
          <a:p>
            <a:pPr>
              <a:defRPr sz="1100">
                <a:solidFill>
                  <a:srgbClr val="0F172A"/>
                </a:solidFill>
                <a:latin typeface="Calibri"/>
              </a:defRPr>
            </a:pPr>
            <a:r>
              <a:t>• MongoDB Atlas (Cloud)</a:t>
            </a:r>
          </a:p>
          <a:p>
            <a:pPr>
              <a:defRPr sz="1100">
                <a:solidFill>
                  <a:srgbClr val="0F172A"/>
                </a:solidFill>
                <a:latin typeface="Calibri"/>
              </a:defRPr>
            </a:pPr>
            <a:r>
              <a:t>• Mongoose schemas</a:t>
            </a:r>
          </a:p>
          <a:p>
            <a:pPr>
              <a:defRPr sz="1100">
                <a:solidFill>
                  <a:srgbClr val="0F172A"/>
                </a:solidFill>
                <a:latin typeface="Calibri"/>
              </a:defRPr>
            </a:pPr>
            <a:r>
              <a:t>• Supabase client SDK</a:t>
            </a:r>
          </a:p>
          <a:p>
            <a:pPr>
              <a:defRPr sz="1100">
                <a:solidFill>
                  <a:srgbClr val="0F172A"/>
                </a:solidFill>
                <a:latin typeface="Calibri"/>
              </a:defRPr>
            </a:pPr>
            <a:r>
              <a:t>• SQL Dealer table</a:t>
            </a:r>
          </a:p>
          <a:p>
            <a:pPr>
              <a:defRPr sz="1100">
                <a:solidFill>
                  <a:srgbClr val="0F172A"/>
                </a:solidFill>
                <a:latin typeface="Calibri"/>
              </a:defRPr>
            </a:pPr>
            <a:r>
              <a:t>• Dynamic JSON cache</a:t>
            </a:r>
          </a:p>
        </p:txBody>
      </p:sp>
      <p:sp>
        <p:nvSpPr>
          <p:cNvPr id="24" name="Rounded Rectangle 23"/>
          <p:cNvSpPr/>
          <p:nvPr/>
        </p:nvSpPr>
        <p:spPr>
          <a:xfrm>
            <a:off x="8970264" y="1700784"/>
            <a:ext cx="2724912"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15400" y="1645920"/>
            <a:ext cx="272491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1828800"/>
            <a:ext cx="2450592" cy="274320"/>
          </a:xfrm>
          <a:prstGeom prst="rect">
            <a:avLst/>
          </a:prstGeom>
          <a:noFill/>
        </p:spPr>
        <p:txBody>
          <a:bodyPr wrap="square" lIns="0" tIns="0" rIns="0" bIns="0">
            <a:spAutoFit/>
          </a:bodyPr>
          <a:lstStyle/>
          <a:p>
            <a:pPr algn="l">
              <a:defRPr sz="1300" b="1">
                <a:solidFill>
                  <a:srgbClr val="0F172A"/>
                </a:solidFill>
                <a:latin typeface="Calibri"/>
              </a:defRPr>
            </a:pPr>
            <a:r>
              <a:t>HOSTING &amp; DEPLOY</a:t>
            </a:r>
          </a:p>
        </p:txBody>
      </p:sp>
      <p:sp>
        <p:nvSpPr>
          <p:cNvPr id="27" name="TextBox 26"/>
          <p:cNvSpPr txBox="1"/>
          <p:nvPr/>
        </p:nvSpPr>
        <p:spPr>
          <a:xfrm>
            <a:off x="9052560" y="2057400"/>
            <a:ext cx="2450592" cy="274320"/>
          </a:xfrm>
          <a:prstGeom prst="rect">
            <a:avLst/>
          </a:prstGeom>
          <a:noFill/>
        </p:spPr>
        <p:txBody>
          <a:bodyPr wrap="square" lIns="0" tIns="0" rIns="0" bIns="0">
            <a:spAutoFit/>
          </a:bodyPr>
          <a:lstStyle/>
          <a:p>
            <a:pPr algn="l">
              <a:defRPr sz="1000" b="0">
                <a:solidFill>
                  <a:srgbClr val="64748B"/>
                </a:solidFill>
                <a:latin typeface="Calibri"/>
              </a:defRPr>
            </a:pPr>
            <a:r>
              <a:t>Infrastructure</a:t>
            </a:r>
          </a:p>
        </p:txBody>
      </p:sp>
      <p:sp>
        <p:nvSpPr>
          <p:cNvPr id="28" name="Rectangle 27"/>
          <p:cNvSpPr/>
          <p:nvPr/>
        </p:nvSpPr>
        <p:spPr>
          <a:xfrm>
            <a:off x="9052560" y="237744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0" y="2560320"/>
            <a:ext cx="2450592" cy="3474720"/>
          </a:xfrm>
          <a:prstGeom prst="rect">
            <a:avLst/>
          </a:prstGeom>
          <a:noFill/>
        </p:spPr>
        <p:txBody>
          <a:bodyPr wrap="square" lIns="0" tIns="0" rIns="0" bIns="0">
            <a:spAutoFit/>
          </a:bodyPr>
          <a:lstStyle/>
          <a:p>
            <a:pPr>
              <a:defRPr sz="1100">
                <a:solidFill>
                  <a:srgbClr val="0F172A"/>
                </a:solidFill>
                <a:latin typeface="Calibri"/>
              </a:defRPr>
            </a:pPr>
            <a:r>
              <a:t>• Render Cloud Hosting</a:t>
            </a:r>
          </a:p>
          <a:p>
            <a:pPr>
              <a:defRPr sz="1100">
                <a:solidFill>
                  <a:srgbClr val="0F172A"/>
                </a:solidFill>
                <a:latin typeface="Calibri"/>
              </a:defRPr>
            </a:pPr>
            <a:r>
              <a:t>• GitHub continuous build</a:t>
            </a:r>
          </a:p>
          <a:p>
            <a:pPr>
              <a:defRPr sz="1100">
                <a:solidFill>
                  <a:srgbClr val="0F172A"/>
                </a:solidFill>
                <a:latin typeface="Calibri"/>
              </a:defRPr>
            </a:pPr>
            <a:r>
              <a:t>• SSL configuration</a:t>
            </a:r>
          </a:p>
          <a:p>
            <a:pPr>
              <a:defRPr sz="1100">
                <a:solidFill>
                  <a:srgbClr val="0F172A"/>
                </a:solidFill>
                <a:latin typeface="Calibri"/>
              </a:defRPr>
            </a:pPr>
            <a:r>
              <a:t>• HTTPS protocol</a:t>
            </a:r>
          </a:p>
          <a:p>
            <a:pPr>
              <a:defRPr sz="1100">
                <a:solidFill>
                  <a:srgbClr val="0F172A"/>
                </a:solidFill>
                <a:latin typeface="Calibri"/>
              </a:defRPr>
            </a:pPr>
            <a:r>
              <a:t>• Auto-restart process</a:t>
            </a:r>
          </a:p>
        </p:txBody>
      </p:sp>
    </p:spTree>
  </p:cSld>
  <p:transition>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ADMIN PORTAL</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Content Management System (CMS) &amp; Administration</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png"/>
          <p:cNvPicPr>
            <a:picLocks noChangeAspect="1"/>
          </p:cNvPicPr>
          <p:nvPr/>
        </p:nvPicPr>
        <p:blipFill>
          <a:blip r:embed="rId2"/>
          <a:stretch>
            <a:fillRect/>
          </a:stretch>
        </p:blipFill>
        <p:spPr>
          <a:xfrm>
            <a:off x="548640" y="2011680"/>
            <a:ext cx="4572000" cy="2857500"/>
          </a:xfrm>
          <a:prstGeom prst="rect">
            <a:avLst/>
          </a:prstGeom>
        </p:spPr>
      </p:pic>
      <p:sp>
        <p:nvSpPr>
          <p:cNvPr id="9" name="Rounded Rectangle 8"/>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ADMINISTRATOR CMS CAPABILITIES</a:t>
            </a:r>
          </a:p>
        </p:txBody>
      </p:sp>
      <p:sp>
        <p:nvSpPr>
          <p:cNvPr id="12" name="TextBox 11"/>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Product Catalogue Editor: Add, update, or delete formulations directly without making code modifications.</a:t>
            </a:r>
          </a:p>
          <a:p>
            <a:pPr>
              <a:defRPr sz="1300">
                <a:solidFill>
                  <a:srgbClr val="0F172A"/>
                </a:solidFill>
                <a:latin typeface="Calibri"/>
              </a:defRPr>
            </a:pPr>
            <a:r>
              <a:t>• Interactive Dealer Review: Manage incoming onboarding applications. Sales managers can change status (Pending/Approved/In Review).</a:t>
            </a:r>
          </a:p>
          <a:p>
            <a:pPr>
              <a:defRPr sz="1300">
                <a:solidFill>
                  <a:srgbClr val="0F172A"/>
                </a:solidFill>
                <a:latin typeface="Calibri"/>
              </a:defRPr>
            </a:pPr>
            <a:r>
              <a:t>• Enquiry Log Viewer: Consolidates and lists farmer inquiries and crop diagnostics questions.</a:t>
            </a:r>
          </a:p>
          <a:p>
            <a:pPr>
              <a:defRPr sz="1300">
                <a:solidFill>
                  <a:srgbClr val="0F172A"/>
                </a:solidFill>
                <a:latin typeface="Calibri"/>
              </a:defRPr>
            </a:pPr>
            <a:r>
              <a:t>• File Uploader: Supports uploading product packaging images directly to cloud file storage.</a:t>
            </a:r>
          </a:p>
          <a:p>
            <a:pPr>
              <a:defRPr sz="1300">
                <a:solidFill>
                  <a:srgbClr val="0F172A"/>
                </a:solidFill>
                <a:latin typeface="Calibri"/>
              </a:defRPr>
            </a:pPr>
            <a:r>
              <a:t>• Audit logs: Records administrative updates to safeguard catalog integrity.</a:t>
            </a:r>
          </a:p>
        </p:txBody>
      </p:sp>
    </p:spTree>
  </p:cSld>
  <p:transition>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WEB MARKETING</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Lead Capture &amp; Integrated Marketing Assets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37760" cy="365760"/>
          </a:xfrm>
          <a:prstGeom prst="rect">
            <a:avLst/>
          </a:prstGeom>
          <a:noFill/>
        </p:spPr>
        <p:txBody>
          <a:bodyPr wrap="square" lIns="0" tIns="0" rIns="0" bIns="0">
            <a:spAutoFit/>
          </a:bodyPr>
          <a:lstStyle/>
          <a:p>
            <a:pPr algn="l">
              <a:defRPr sz="1500" b="1">
                <a:solidFill>
                  <a:srgbClr val="0284C7"/>
                </a:solidFill>
                <a:latin typeface="Calibri"/>
              </a:defRPr>
            </a:pPr>
            <a:r>
              <a:t>WhatsApp Quick-Connect</a:t>
            </a:r>
          </a:p>
        </p:txBody>
      </p:sp>
      <p:sp>
        <p:nvSpPr>
          <p:cNvPr id="9" name="TextBox 8"/>
          <p:cNvSpPr txBox="1"/>
          <p:nvPr/>
        </p:nvSpPr>
        <p:spPr>
          <a:xfrm>
            <a:off x="731520" y="2194560"/>
            <a:ext cx="4937760" cy="1280160"/>
          </a:xfrm>
          <a:prstGeom prst="rect">
            <a:avLst/>
          </a:prstGeom>
          <a:noFill/>
        </p:spPr>
        <p:txBody>
          <a:bodyPr wrap="square" lIns="0" tIns="0" rIns="0" bIns="0">
            <a:spAutoFit/>
          </a:bodyPr>
          <a:lstStyle/>
          <a:p>
            <a:pPr algn="l">
              <a:defRPr sz="1100" b="0">
                <a:solidFill>
                  <a:srgbClr val="0F172A"/>
                </a:solidFill>
                <a:latin typeface="Calibri"/>
              </a:defRPr>
            </a:pPr>
            <a:r>
              <a:t>Floating button and modal shortcuts directly launch WhatsApp chat windows to support agents. Provides instant support, which matches rural customer behavior.</a:t>
            </a:r>
          </a:p>
        </p:txBody>
      </p:sp>
      <p:sp>
        <p:nvSpPr>
          <p:cNvPr id="10" name="Rounded Rectangle 9"/>
          <p:cNvSpPr/>
          <p:nvPr/>
        </p:nvSpPr>
        <p:spPr>
          <a:xfrm>
            <a:off x="627278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28800"/>
            <a:ext cx="4937760" cy="365760"/>
          </a:xfrm>
          <a:prstGeom prst="rect">
            <a:avLst/>
          </a:prstGeom>
          <a:noFill/>
        </p:spPr>
        <p:txBody>
          <a:bodyPr wrap="square" lIns="0" tIns="0" rIns="0" bIns="0">
            <a:spAutoFit/>
          </a:bodyPr>
          <a:lstStyle/>
          <a:p>
            <a:pPr algn="l">
              <a:defRPr sz="1500" b="1">
                <a:solidFill>
                  <a:srgbClr val="15803D"/>
                </a:solidFill>
                <a:latin typeface="Calibri"/>
              </a:defRPr>
            </a:pPr>
            <a:r>
              <a:t>Local SEO Coordinates</a:t>
            </a:r>
          </a:p>
        </p:txBody>
      </p:sp>
      <p:sp>
        <p:nvSpPr>
          <p:cNvPr id="13" name="TextBox 12"/>
          <p:cNvSpPr txBox="1"/>
          <p:nvPr/>
        </p:nvSpPr>
        <p:spPr>
          <a:xfrm>
            <a:off x="6400800" y="2194560"/>
            <a:ext cx="4937760" cy="1280160"/>
          </a:xfrm>
          <a:prstGeom prst="rect">
            <a:avLst/>
          </a:prstGeom>
          <a:noFill/>
        </p:spPr>
        <p:txBody>
          <a:bodyPr wrap="square" lIns="0" tIns="0" rIns="0" bIns="0">
            <a:spAutoFit/>
          </a:bodyPr>
          <a:lstStyle/>
          <a:p>
            <a:pPr algn="l">
              <a:defRPr sz="1100" b="0">
                <a:solidFill>
                  <a:srgbClr val="0F172A"/>
                </a:solidFill>
                <a:latin typeface="Calibri"/>
              </a:defRPr>
            </a:pPr>
            <a:r>
              <a:t>Integrated Google Maps element shows the exact manufacturing location in Rajkot. Boosts local ranking on Google search and map results.</a:t>
            </a:r>
          </a:p>
        </p:txBody>
      </p:sp>
      <p:sp>
        <p:nvSpPr>
          <p:cNvPr id="14" name="Rounded Rectangle 13"/>
          <p:cNvSpPr/>
          <p:nvPr/>
        </p:nvSpPr>
        <p:spPr>
          <a:xfrm>
            <a:off x="60350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4937760" cy="365760"/>
          </a:xfrm>
          <a:prstGeom prst="rect">
            <a:avLst/>
          </a:prstGeom>
          <a:noFill/>
        </p:spPr>
        <p:txBody>
          <a:bodyPr wrap="square" lIns="0" tIns="0" rIns="0" bIns="0">
            <a:spAutoFit/>
          </a:bodyPr>
          <a:lstStyle/>
          <a:p>
            <a:pPr algn="l">
              <a:defRPr sz="1500" b="1">
                <a:solidFill>
                  <a:srgbClr val="EA580C"/>
                </a:solidFill>
                <a:latin typeface="Calibri"/>
              </a:defRPr>
            </a:pPr>
            <a:r>
              <a:t>B2B Quote Trigger</a:t>
            </a:r>
          </a:p>
        </p:txBody>
      </p:sp>
      <p:sp>
        <p:nvSpPr>
          <p:cNvPr id="17" name="TextBox 16"/>
          <p:cNvSpPr txBox="1"/>
          <p:nvPr/>
        </p:nvSpPr>
        <p:spPr>
          <a:xfrm>
            <a:off x="731520" y="4663440"/>
            <a:ext cx="4937760" cy="1280160"/>
          </a:xfrm>
          <a:prstGeom prst="rect">
            <a:avLst/>
          </a:prstGeom>
          <a:noFill/>
        </p:spPr>
        <p:txBody>
          <a:bodyPr wrap="square" lIns="0" tIns="0" rIns="0" bIns="0">
            <a:spAutoFit/>
          </a:bodyPr>
          <a:lstStyle/>
          <a:p>
            <a:pPr algn="l">
              <a:defRPr sz="1100" b="0">
                <a:solidFill>
                  <a:srgbClr val="0F172A"/>
                </a:solidFill>
                <a:latin typeface="Calibri"/>
              </a:defRPr>
            </a:pPr>
            <a:r>
              <a:t>Product pages prompt B2B buyers to 'Become a Dealer' or 'Request Pricing'. Feeds the sales department with qualified commercial leads.</a:t>
            </a:r>
          </a:p>
        </p:txBody>
      </p:sp>
      <p:sp>
        <p:nvSpPr>
          <p:cNvPr id="18" name="Rounded Rectangle 17"/>
          <p:cNvSpPr/>
          <p:nvPr/>
        </p:nvSpPr>
        <p:spPr>
          <a:xfrm>
            <a:off x="627278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297680"/>
            <a:ext cx="4937760" cy="365760"/>
          </a:xfrm>
          <a:prstGeom prst="rect">
            <a:avLst/>
          </a:prstGeom>
          <a:noFill/>
        </p:spPr>
        <p:txBody>
          <a:bodyPr wrap="square" lIns="0" tIns="0" rIns="0" bIns="0">
            <a:spAutoFit/>
          </a:bodyPr>
          <a:lstStyle/>
          <a:p>
            <a:pPr algn="l">
              <a:defRPr sz="1500" b="1">
                <a:solidFill>
                  <a:srgbClr val="0F172A"/>
                </a:solidFill>
                <a:latin typeface="Calibri"/>
              </a:defRPr>
            </a:pPr>
            <a:r>
              <a:t>PDF Catalogue Downloads</a:t>
            </a:r>
          </a:p>
        </p:txBody>
      </p:sp>
      <p:sp>
        <p:nvSpPr>
          <p:cNvPr id="21" name="TextBox 20"/>
          <p:cNvSpPr txBox="1"/>
          <p:nvPr/>
        </p:nvSpPr>
        <p:spPr>
          <a:xfrm>
            <a:off x="6400800" y="4663440"/>
            <a:ext cx="4937760" cy="1280160"/>
          </a:xfrm>
          <a:prstGeom prst="rect">
            <a:avLst/>
          </a:prstGeom>
          <a:noFill/>
        </p:spPr>
        <p:txBody>
          <a:bodyPr wrap="square" lIns="0" tIns="0" rIns="0" bIns="0">
            <a:spAutoFit/>
          </a:bodyPr>
          <a:lstStyle/>
          <a:p>
            <a:pPr algn="l">
              <a:defRPr sz="1100" b="0">
                <a:solidFill>
                  <a:srgbClr val="0F172A"/>
                </a:solidFill>
                <a:latin typeface="Calibri"/>
              </a:defRPr>
            </a:pPr>
            <a:r>
              <a:t>Users download technical datasheets directly. Enables offline reviewing of dosages by farmers in zones with zero signal coverage.</a:t>
            </a:r>
          </a:p>
        </p:txBody>
      </p:sp>
    </p:spTree>
  </p:cSld>
  <p:transition>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FUTURE SCOPE</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Proposed Digital Expansion Timeline</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017520" cy="365760"/>
          </a:xfrm>
          <a:prstGeom prst="rect">
            <a:avLst/>
          </a:prstGeom>
          <a:noFill/>
        </p:spPr>
        <p:txBody>
          <a:bodyPr wrap="square" lIns="0" tIns="0" rIns="0" bIns="0">
            <a:spAutoFit/>
          </a:bodyPr>
          <a:lstStyle/>
          <a:p>
            <a:pPr algn="l">
              <a:defRPr sz="1600" b="1">
                <a:solidFill>
                  <a:srgbClr val="0284C7"/>
                </a:solidFill>
                <a:latin typeface="Calibri"/>
              </a:defRPr>
            </a:pPr>
            <a:r>
              <a:t>Phase 1: Months 1-3</a:t>
            </a:r>
          </a:p>
        </p:txBody>
      </p:sp>
      <p:sp>
        <p:nvSpPr>
          <p:cNvPr id="9" name="TextBox 8"/>
          <p:cNvSpPr txBox="1"/>
          <p:nvPr/>
        </p:nvSpPr>
        <p:spPr>
          <a:xfrm>
            <a:off x="731520" y="2377440"/>
            <a:ext cx="3017520" cy="3657600"/>
          </a:xfrm>
          <a:prstGeom prst="rect">
            <a:avLst/>
          </a:prstGeom>
          <a:noFill/>
        </p:spPr>
        <p:txBody>
          <a:bodyPr wrap="square" lIns="0" tIns="0" rIns="0" bIns="0">
            <a:spAutoFit/>
          </a:bodyPr>
          <a:lstStyle/>
          <a:p>
            <a:pPr>
              <a:defRPr sz="1200">
                <a:solidFill>
                  <a:srgbClr val="0F172A"/>
                </a:solidFill>
                <a:latin typeface="Calibri"/>
              </a:defRPr>
            </a:pPr>
            <a:r>
              <a:t>• Farmer advisory blog updates detailing seasonal crop tips.</a:t>
            </a:r>
          </a:p>
          <a:p>
            <a:pPr>
              <a:defRPr sz="1200">
                <a:solidFill>
                  <a:srgbClr val="0F172A"/>
                </a:solidFill>
                <a:latin typeface="Calibri"/>
              </a:defRPr>
            </a:pPr>
            <a:r>
              <a:t>• Crop Doctor AI upgrades: Integrate mobile camera uploads for leaf spot recognition.</a:t>
            </a:r>
          </a:p>
          <a:p>
            <a:pPr>
              <a:defRPr sz="1200">
                <a:solidFill>
                  <a:srgbClr val="0F172A"/>
                </a:solidFill>
                <a:latin typeface="Calibri"/>
              </a:defRPr>
            </a:pPr>
            <a:r>
              <a:t>• Add localized language support for Gujarati and Telugu.</a:t>
            </a:r>
          </a:p>
        </p:txBody>
      </p:sp>
      <p:sp>
        <p:nvSpPr>
          <p:cNvPr id="10" name="Rounded Rectangle 9"/>
          <p:cNvSpPr/>
          <p:nvPr/>
        </p:nvSpPr>
        <p:spPr>
          <a:xfrm>
            <a:off x="435254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017520" cy="365760"/>
          </a:xfrm>
          <a:prstGeom prst="rect">
            <a:avLst/>
          </a:prstGeom>
          <a:noFill/>
        </p:spPr>
        <p:txBody>
          <a:bodyPr wrap="square" lIns="0" tIns="0" rIns="0" bIns="0">
            <a:spAutoFit/>
          </a:bodyPr>
          <a:lstStyle/>
          <a:p>
            <a:pPr algn="l">
              <a:defRPr sz="1600" b="1">
                <a:solidFill>
                  <a:srgbClr val="15803D"/>
                </a:solidFill>
                <a:latin typeface="Calibri"/>
              </a:defRPr>
            </a:pPr>
            <a:r>
              <a:t>Phase 2: Months 4-6</a:t>
            </a:r>
          </a:p>
        </p:txBody>
      </p:sp>
      <p:sp>
        <p:nvSpPr>
          <p:cNvPr id="13" name="TextBox 12"/>
          <p:cNvSpPr txBox="1"/>
          <p:nvPr/>
        </p:nvSpPr>
        <p:spPr>
          <a:xfrm>
            <a:off x="4480560" y="2377440"/>
            <a:ext cx="3017520" cy="3657600"/>
          </a:xfrm>
          <a:prstGeom prst="rect">
            <a:avLst/>
          </a:prstGeom>
          <a:noFill/>
        </p:spPr>
        <p:txBody>
          <a:bodyPr wrap="square" lIns="0" tIns="0" rIns="0" bIns="0">
            <a:spAutoFit/>
          </a:bodyPr>
          <a:lstStyle/>
          <a:p>
            <a:pPr>
              <a:defRPr sz="1200">
                <a:solidFill>
                  <a:srgbClr val="0F172A"/>
                </a:solidFill>
                <a:latin typeface="Calibri"/>
              </a:defRPr>
            </a:pPr>
            <a:r>
              <a:t>• Authorized Dealer Logins showing custom discount brackets.</a:t>
            </a:r>
          </a:p>
          <a:p>
            <a:pPr>
              <a:defRPr sz="1200">
                <a:solidFill>
                  <a:srgbClr val="0F172A"/>
                </a:solidFill>
                <a:latin typeface="Calibri"/>
              </a:defRPr>
            </a:pPr>
            <a:r>
              <a:t>• Online Order Placement dashboard for wholesale dealer requests.</a:t>
            </a:r>
          </a:p>
          <a:p>
            <a:pPr>
              <a:defRPr sz="1200">
                <a:solidFill>
                  <a:srgbClr val="0F172A"/>
                </a:solidFill>
                <a:latin typeface="Calibri"/>
              </a:defRPr>
            </a:pPr>
            <a:r>
              <a:t>• Digital invoice generation sent directly to registered WhatsApp numbers.</a:t>
            </a:r>
          </a:p>
        </p:txBody>
      </p:sp>
      <p:sp>
        <p:nvSpPr>
          <p:cNvPr id="14" name="Rounded Rectangle 13"/>
          <p:cNvSpPr/>
          <p:nvPr/>
        </p:nvSpPr>
        <p:spPr>
          <a:xfrm>
            <a:off x="810158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28800"/>
            <a:ext cx="3017520" cy="365760"/>
          </a:xfrm>
          <a:prstGeom prst="rect">
            <a:avLst/>
          </a:prstGeom>
          <a:noFill/>
        </p:spPr>
        <p:txBody>
          <a:bodyPr wrap="square" lIns="0" tIns="0" rIns="0" bIns="0">
            <a:spAutoFit/>
          </a:bodyPr>
          <a:lstStyle/>
          <a:p>
            <a:pPr algn="l">
              <a:defRPr sz="1600" b="1">
                <a:solidFill>
                  <a:srgbClr val="EA580C"/>
                </a:solidFill>
                <a:latin typeface="Calibri"/>
              </a:defRPr>
            </a:pPr>
            <a:r>
              <a:t>Phase 3: Months 7-12</a:t>
            </a:r>
          </a:p>
        </p:txBody>
      </p:sp>
      <p:sp>
        <p:nvSpPr>
          <p:cNvPr id="17" name="TextBox 16"/>
          <p:cNvSpPr txBox="1"/>
          <p:nvPr/>
        </p:nvSpPr>
        <p:spPr>
          <a:xfrm>
            <a:off x="8229600" y="2377440"/>
            <a:ext cx="3017520" cy="3657600"/>
          </a:xfrm>
          <a:prstGeom prst="rect">
            <a:avLst/>
          </a:prstGeom>
          <a:noFill/>
        </p:spPr>
        <p:txBody>
          <a:bodyPr wrap="square" lIns="0" tIns="0" rIns="0" bIns="0">
            <a:spAutoFit/>
          </a:bodyPr>
          <a:lstStyle/>
          <a:p>
            <a:pPr>
              <a:defRPr sz="1200">
                <a:solidFill>
                  <a:srgbClr val="0F172A"/>
                </a:solidFill>
                <a:latin typeface="Calibri"/>
              </a:defRPr>
            </a:pPr>
            <a:r>
              <a:t>• B2B online payment gateway integration.</a:t>
            </a:r>
          </a:p>
          <a:p>
            <a:pPr>
              <a:defRPr sz="1200">
                <a:solidFill>
                  <a:srgbClr val="0F172A"/>
                </a:solidFill>
                <a:latin typeface="Calibri"/>
              </a:defRPr>
            </a:pPr>
            <a:r>
              <a:t>• Farmer dashboard showing pest threat maps based on geographic area.</a:t>
            </a:r>
          </a:p>
          <a:p>
            <a:pPr>
              <a:defRPr sz="1200">
                <a:solidFill>
                  <a:srgbClr val="0F172A"/>
                </a:solidFill>
                <a:latin typeface="Calibri"/>
              </a:defRPr>
            </a:pPr>
            <a:r>
              <a:t>• Centralized ERP connector synchronizing catalog inventory levels in real-time.</a:t>
            </a:r>
          </a:p>
        </p:txBody>
      </p:sp>
    </p:spTree>
  </p:cSld>
  <p:transition>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MARKET COMPETITIVENESS</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Competitor Platform Comparison</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11094415"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1109441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10545775" cy="365760"/>
          </a:xfrm>
          <a:prstGeom prst="rect">
            <a:avLst/>
          </a:prstGeom>
          <a:noFill/>
        </p:spPr>
        <p:txBody>
          <a:bodyPr wrap="square" lIns="0" tIns="0" rIns="0" bIns="0">
            <a:spAutoFit/>
          </a:bodyPr>
          <a:lstStyle/>
          <a:p>
            <a:pPr algn="l">
              <a:defRPr sz="1800" b="1">
                <a:solidFill>
                  <a:srgbClr val="0284C7"/>
                </a:solidFill>
                <a:latin typeface="Calibri"/>
              </a:defRPr>
            </a:pPr>
            <a:r>
              <a:t>AGROCHEMICAL WEBSITE COMPARISON MATRIX</a:t>
            </a:r>
          </a:p>
        </p:txBody>
      </p:sp>
      <p:graphicFrame>
        <p:nvGraphicFramePr>
          <p:cNvPr id="9" name="Table 8"/>
          <p:cNvGraphicFramePr>
            <a:graphicFrameLocks noGrp="1"/>
          </p:cNvGraphicFramePr>
          <p:nvPr/>
        </p:nvGraphicFramePr>
        <p:xfrm>
          <a:off x="822960" y="2286000"/>
          <a:ext cx="10545775" cy="3474720"/>
        </p:xfrm>
        <a:graphic>
          <a:graphicData uri="http://schemas.openxmlformats.org/drawingml/2006/table">
            <a:tbl>
              <a:tblPr firstRow="1" bandRow="1">
                <a:tableStyleId>{5C22544A-7EE6-4342-B048-85BDC9FD1C3A}</a:tableStyleId>
              </a:tblPr>
              <a:tblGrid>
                <a:gridCol w="2286000"/>
                <a:gridCol w="2057400"/>
                <a:gridCol w="2057400"/>
                <a:gridCol w="2057400"/>
                <a:gridCol w="2087575"/>
              </a:tblGrid>
              <a:tr h="694944">
                <a:tc>
                  <a:txBody>
                    <a:bodyPr/>
                    <a:lstStyle/>
                    <a:p>
                      <a:pPr>
                        <a:defRPr b="1" sz="1100">
                          <a:solidFill>
                            <a:srgbClr val="FFFFFF"/>
                          </a:solidFill>
                        </a:defRPr>
                      </a:pPr>
                      <a:r>
                        <a:t>Feature Metric</a:t>
                      </a:r>
                    </a:p>
                  </a:txBody>
                  <a:tcPr>
                    <a:solidFill>
                      <a:srgbClr val="0284C7"/>
                    </a:solidFill>
                  </a:tcPr>
                </a:tc>
                <a:tc>
                  <a:txBody>
                    <a:bodyPr/>
                    <a:lstStyle/>
                    <a:p>
                      <a:pPr>
                        <a:defRPr b="1" sz="1100">
                          <a:solidFill>
                            <a:srgbClr val="FFFFFF"/>
                          </a:solidFill>
                        </a:defRPr>
                      </a:pPr>
                      <a:r>
                        <a:t>DR CHEMISTAR</a:t>
                      </a:r>
                    </a:p>
                  </a:txBody>
                  <a:tcPr>
                    <a:solidFill>
                      <a:srgbClr val="15803D"/>
                    </a:solidFill>
                  </a:tcPr>
                </a:tc>
                <a:tc>
                  <a:txBody>
                    <a:bodyPr/>
                    <a:lstStyle/>
                    <a:p>
                      <a:pPr>
                        <a:defRPr b="1" sz="1100">
                          <a:solidFill>
                            <a:srgbClr val="FFFFFF"/>
                          </a:solidFill>
                        </a:defRPr>
                      </a:pPr>
                      <a:r>
                        <a:t>UPL Limited</a:t>
                      </a:r>
                    </a:p>
                  </a:txBody>
                  <a:tcPr>
                    <a:solidFill>
                      <a:srgbClr val="0284C7"/>
                    </a:solidFill>
                  </a:tcPr>
                </a:tc>
                <a:tc>
                  <a:txBody>
                    <a:bodyPr/>
                    <a:lstStyle/>
                    <a:p>
                      <a:pPr>
                        <a:defRPr b="1" sz="1100">
                          <a:solidFill>
                            <a:srgbClr val="FFFFFF"/>
                          </a:solidFill>
                        </a:defRPr>
                      </a:pPr>
                      <a:r>
                        <a:t>Dhanuka Agritech</a:t>
                      </a:r>
                    </a:p>
                  </a:txBody>
                  <a:tcPr>
                    <a:solidFill>
                      <a:srgbClr val="0284C7"/>
                    </a:solidFill>
                  </a:tcPr>
                </a:tc>
                <a:tc>
                  <a:txBody>
                    <a:bodyPr/>
                    <a:lstStyle/>
                    <a:p>
                      <a:pPr>
                        <a:defRPr b="1" sz="1100">
                          <a:solidFill>
                            <a:srgbClr val="FFFFFF"/>
                          </a:solidFill>
                        </a:defRPr>
                      </a:pPr>
                      <a:r>
                        <a:t>PI Industries</a:t>
                      </a:r>
                    </a:p>
                  </a:txBody>
                  <a:tcPr>
                    <a:solidFill>
                      <a:srgbClr val="0284C7"/>
                    </a:solidFill>
                  </a:tcPr>
                </a:tc>
              </a:tr>
              <a:tr h="694944">
                <a:tc>
                  <a:txBody>
                    <a:bodyPr/>
                    <a:lstStyle/>
                    <a:p>
                      <a:pPr>
                        <a:defRPr sz="1000">
                          <a:solidFill>
                            <a:srgbClr val="0F172A"/>
                          </a:solidFill>
                        </a:defRPr>
                      </a:pPr>
                      <a:r>
                        <a:t>Modern UX / Glassmorphism</a:t>
                      </a:r>
                    </a:p>
                  </a:txBody>
                  <a:tcPr/>
                </a:tc>
                <a:tc>
                  <a:txBody>
                    <a:bodyPr/>
                    <a:lstStyle/>
                    <a:p>
                      <a:pPr>
                        <a:defRPr sz="1000" b="1">
                          <a:solidFill>
                            <a:srgbClr val="15803D"/>
                          </a:solidFill>
                        </a:defRPr>
                      </a:pPr>
                      <a:r>
                        <a:t>Excellent (Vite/Tailwind)</a:t>
                      </a:r>
                    </a:p>
                  </a:txBody>
                  <a:tcPr/>
                </a:tc>
                <a:tc>
                  <a:txBody>
                    <a:bodyPr/>
                    <a:lstStyle/>
                    <a:p>
                      <a:pPr>
                        <a:defRPr sz="1000">
                          <a:solidFill>
                            <a:srgbClr val="0F172A"/>
                          </a:solidFill>
                        </a:defRPr>
                      </a:pPr>
                      <a:r>
                        <a:t>Average (Classic CMS)</a:t>
                      </a:r>
                    </a:p>
                  </a:txBody>
                  <a:tcPr/>
                </a:tc>
                <a:tc>
                  <a:txBody>
                    <a:bodyPr/>
                    <a:lstStyle/>
                    <a:p>
                      <a:pPr>
                        <a:defRPr sz="1000">
                          <a:solidFill>
                            <a:srgbClr val="0F172A"/>
                          </a:solidFill>
                        </a:defRPr>
                      </a:pPr>
                      <a:r>
                        <a:t>Average (Traditional)</a:t>
                      </a:r>
                    </a:p>
                  </a:txBody>
                  <a:tcPr/>
                </a:tc>
                <a:tc>
                  <a:txBody>
                    <a:bodyPr/>
                    <a:lstStyle/>
                    <a:p>
                      <a:pPr>
                        <a:defRPr sz="1000">
                          <a:solidFill>
                            <a:srgbClr val="0F172A"/>
                          </a:solidFill>
                        </a:defRPr>
                      </a:pPr>
                      <a:r>
                        <a:t>Average (Traditional)</a:t>
                      </a:r>
                    </a:p>
                  </a:txBody>
                  <a:tcPr/>
                </a:tc>
              </a:tr>
              <a:tr h="694944">
                <a:tc>
                  <a:txBody>
                    <a:bodyPr/>
                    <a:lstStyle/>
                    <a:p>
                      <a:pPr>
                        <a:defRPr sz="1000">
                          <a:solidFill>
                            <a:srgbClr val="0F172A"/>
                          </a:solidFill>
                        </a:defRPr>
                      </a:pPr>
                      <a:r>
                        <a:t>Bilingual Support (EN/HI)</a:t>
                      </a:r>
                    </a:p>
                  </a:txBody>
                  <a:tcPr/>
                </a:tc>
                <a:tc>
                  <a:txBody>
                    <a:bodyPr/>
                    <a:lstStyle/>
                    <a:p>
                      <a:pPr>
                        <a:defRPr sz="1000" b="1">
                          <a:solidFill>
                            <a:srgbClr val="15803D"/>
                          </a:solidFill>
                        </a:defRPr>
                      </a:pPr>
                      <a:r>
                        <a:t>Yes (Integrated)</a:t>
                      </a:r>
                    </a:p>
                  </a:txBody>
                  <a:tcPr/>
                </a:tc>
                <a:tc>
                  <a:txBody>
                    <a:bodyPr/>
                    <a:lstStyle/>
                    <a:p>
                      <a:pPr>
                        <a:defRPr sz="1000">
                          <a:solidFill>
                            <a:srgbClr val="0F172A"/>
                          </a:solidFill>
                        </a:defRPr>
                      </a:pPr>
                      <a:r>
                        <a:t>Limited</a:t>
                      </a:r>
                    </a:p>
                  </a:txBody>
                  <a:tcPr/>
                </a:tc>
                <a:tc>
                  <a:txBody>
                    <a:bodyPr/>
                    <a:lstStyle/>
                    <a:p>
                      <a:pPr>
                        <a:defRPr sz="1000">
                          <a:solidFill>
                            <a:srgbClr val="0F172A"/>
                          </a:solidFill>
                        </a:defRPr>
                      </a:pPr>
                      <a:r>
                        <a:t>No (English)</a:t>
                      </a:r>
                    </a:p>
                  </a:txBody>
                  <a:tcPr/>
                </a:tc>
                <a:tc>
                  <a:txBody>
                    <a:bodyPr/>
                    <a:lstStyle/>
                    <a:p>
                      <a:pPr>
                        <a:defRPr sz="1000">
                          <a:solidFill>
                            <a:srgbClr val="0F172A"/>
                          </a:solidFill>
                        </a:defRPr>
                      </a:pPr>
                      <a:r>
                        <a:t>Limited</a:t>
                      </a:r>
                    </a:p>
                  </a:txBody>
                  <a:tcPr/>
                </a:tc>
              </a:tr>
              <a:tr h="694944">
                <a:tc>
                  <a:txBody>
                    <a:bodyPr/>
                    <a:lstStyle/>
                    <a:p>
                      <a:pPr>
                        <a:defRPr sz="1000">
                          <a:solidFill>
                            <a:srgbClr val="0F172A"/>
                          </a:solidFill>
                        </a:defRPr>
                      </a:pPr>
                      <a:r>
                        <a:t>AI Disease Diagnostics</a:t>
                      </a:r>
                    </a:p>
                  </a:txBody>
                  <a:tcPr/>
                </a:tc>
                <a:tc>
                  <a:txBody>
                    <a:bodyPr/>
                    <a:lstStyle/>
                    <a:p>
                      <a:pPr>
                        <a:defRPr sz="1000" b="1">
                          <a:solidFill>
                            <a:srgbClr val="15803D"/>
                          </a:solidFill>
                        </a:defRPr>
                      </a:pPr>
                      <a:r>
                        <a:t>Yes (Integrated Doctor)</a:t>
                      </a:r>
                    </a:p>
                  </a:txBody>
                  <a:tcPr/>
                </a:tc>
                <a:tc>
                  <a:txBody>
                    <a:bodyPr/>
                    <a:lstStyle/>
                    <a:p>
                      <a:pPr>
                        <a:defRPr sz="1000">
                          <a:solidFill>
                            <a:srgbClr val="0F172A"/>
                          </a:solidFill>
                        </a:defRPr>
                      </a:pPr>
                      <a:r>
                        <a:t>No</a:t>
                      </a:r>
                    </a:p>
                  </a:txBody>
                  <a:tcPr/>
                </a:tc>
                <a:tc>
                  <a:txBody>
                    <a:bodyPr/>
                    <a:lstStyle/>
                    <a:p>
                      <a:pPr>
                        <a:defRPr sz="1000">
                          <a:solidFill>
                            <a:srgbClr val="0F172A"/>
                          </a:solidFill>
                        </a:defRPr>
                      </a:pPr>
                      <a:r>
                        <a:t>No</a:t>
                      </a:r>
                    </a:p>
                  </a:txBody>
                  <a:tcPr/>
                </a:tc>
                <a:tc>
                  <a:txBody>
                    <a:bodyPr/>
                    <a:lstStyle/>
                    <a:p>
                      <a:pPr>
                        <a:defRPr sz="1000">
                          <a:solidFill>
                            <a:srgbClr val="0F172A"/>
                          </a:solidFill>
                        </a:defRPr>
                      </a:pPr>
                      <a:r>
                        <a:t>No</a:t>
                      </a:r>
                    </a:p>
                  </a:txBody>
                  <a:tcPr/>
                </a:tc>
              </a:tr>
              <a:tr h="694944">
                <a:tc>
                  <a:txBody>
                    <a:bodyPr/>
                    <a:lstStyle/>
                    <a:p>
                      <a:pPr>
                        <a:defRPr sz="1000">
                          <a:solidFill>
                            <a:srgbClr val="0F172A"/>
                          </a:solidFill>
                        </a:defRPr>
                      </a:pPr>
                      <a:r>
                        <a:t>Direct B2B Dealer Portal</a:t>
                      </a:r>
                    </a:p>
                  </a:txBody>
                  <a:tcPr/>
                </a:tc>
                <a:tc>
                  <a:txBody>
                    <a:bodyPr/>
                    <a:lstStyle/>
                    <a:p>
                      <a:pPr>
                        <a:defRPr sz="1000" b="1">
                          <a:solidFill>
                            <a:srgbClr val="15803D"/>
                          </a:solidFill>
                        </a:defRPr>
                      </a:pPr>
                      <a:r>
                        <a:t>Yes (Integrated forms)</a:t>
                      </a:r>
                    </a:p>
                  </a:txBody>
                  <a:tcPr/>
                </a:tc>
                <a:tc>
                  <a:txBody>
                    <a:bodyPr/>
                    <a:lstStyle/>
                    <a:p>
                      <a:pPr>
                        <a:defRPr sz="1000">
                          <a:solidFill>
                            <a:srgbClr val="0F172A"/>
                          </a:solidFill>
                        </a:defRPr>
                      </a:pPr>
                      <a:r>
                        <a:t>No (Offline queries)</a:t>
                      </a:r>
                    </a:p>
                  </a:txBody>
                  <a:tcPr/>
                </a:tc>
                <a:tc>
                  <a:txBody>
                    <a:bodyPr/>
                    <a:lstStyle/>
                    <a:p>
                      <a:pPr>
                        <a:defRPr sz="1000">
                          <a:solidFill>
                            <a:srgbClr val="0F172A"/>
                          </a:solidFill>
                        </a:defRPr>
                      </a:pPr>
                      <a:r>
                        <a:t>No (Offline queries)</a:t>
                      </a:r>
                    </a:p>
                  </a:txBody>
                  <a:tcPr/>
                </a:tc>
                <a:tc>
                  <a:txBody>
                    <a:bodyPr/>
                    <a:lstStyle/>
                    <a:p>
                      <a:pPr>
                        <a:defRPr sz="1000">
                          <a:solidFill>
                            <a:srgbClr val="0F172A"/>
                          </a:solidFill>
                        </a:defRPr>
                      </a:pPr>
                      <a:r>
                        <a:t>No (Offline queries)</a:t>
                      </a:r>
                    </a:p>
                  </a:txBody>
                  <a:tcPr/>
                </a:tc>
              </a:tr>
            </a:tbl>
          </a:graphicData>
        </a:graphic>
      </p:graphicFrame>
    </p:spTree>
  </p:cSld>
  <p:transition>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ACTION PLAN</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Actionable Improvement Recommendations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37760" cy="365760"/>
          </a:xfrm>
          <a:prstGeom prst="rect">
            <a:avLst/>
          </a:prstGeom>
          <a:noFill/>
        </p:spPr>
        <p:txBody>
          <a:bodyPr wrap="square" lIns="0" tIns="0" rIns="0" bIns="0">
            <a:spAutoFit/>
          </a:bodyPr>
          <a:lstStyle/>
          <a:p>
            <a:pPr algn="l">
              <a:defRPr sz="1500" b="1">
                <a:solidFill>
                  <a:srgbClr val="0284C7"/>
                </a:solidFill>
                <a:latin typeface="Calibri"/>
              </a:defRPr>
            </a:pPr>
            <a:r>
              <a:t>1. Design Optimization</a:t>
            </a:r>
          </a:p>
        </p:txBody>
      </p:sp>
      <p:sp>
        <p:nvSpPr>
          <p:cNvPr id="9" name="TextBox 8"/>
          <p:cNvSpPr txBox="1"/>
          <p:nvPr/>
        </p:nvSpPr>
        <p:spPr>
          <a:xfrm>
            <a:off x="731520" y="2194560"/>
            <a:ext cx="4937760" cy="1280160"/>
          </a:xfrm>
          <a:prstGeom prst="rect">
            <a:avLst/>
          </a:prstGeom>
          <a:noFill/>
        </p:spPr>
        <p:txBody>
          <a:bodyPr wrap="square" lIns="0" tIns="0" rIns="0" bIns="0">
            <a:spAutoFit/>
          </a:bodyPr>
          <a:lstStyle/>
          <a:p>
            <a:pPr>
              <a:defRPr sz="1100">
                <a:solidFill>
                  <a:srgbClr val="0F172A"/>
                </a:solidFill>
                <a:latin typeface="Calibri"/>
              </a:defRPr>
            </a:pPr>
            <a:r>
              <a:t>• Incorporate a dark theme switcher.</a:t>
            </a:r>
          </a:p>
          <a:p>
            <a:pPr>
              <a:defRPr sz="1100">
                <a:solidFill>
                  <a:srgbClr val="0F172A"/>
                </a:solidFill>
                <a:latin typeface="Calibri"/>
              </a:defRPr>
            </a:pPr>
            <a:r>
              <a:t>• Add localized language support for Gujarati.</a:t>
            </a:r>
          </a:p>
          <a:p>
            <a:pPr>
              <a:defRPr sz="1100">
                <a:solidFill>
                  <a:srgbClr val="0F172A"/>
                </a:solidFill>
                <a:latin typeface="Calibri"/>
              </a:defRPr>
            </a:pPr>
            <a:r>
              <a:t>• Enlarge tap buttons to help mobile users.</a:t>
            </a:r>
          </a:p>
        </p:txBody>
      </p:sp>
      <p:sp>
        <p:nvSpPr>
          <p:cNvPr id="10" name="Rounded Rectangle 9"/>
          <p:cNvSpPr/>
          <p:nvPr/>
        </p:nvSpPr>
        <p:spPr>
          <a:xfrm>
            <a:off x="6272784" y="170078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64592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28800"/>
            <a:ext cx="4937760" cy="365760"/>
          </a:xfrm>
          <a:prstGeom prst="rect">
            <a:avLst/>
          </a:prstGeom>
          <a:noFill/>
        </p:spPr>
        <p:txBody>
          <a:bodyPr wrap="square" lIns="0" tIns="0" rIns="0" bIns="0">
            <a:spAutoFit/>
          </a:bodyPr>
          <a:lstStyle/>
          <a:p>
            <a:pPr algn="l">
              <a:defRPr sz="1500" b="1">
                <a:solidFill>
                  <a:srgbClr val="15803D"/>
                </a:solidFill>
                <a:latin typeface="Calibri"/>
              </a:defRPr>
            </a:pPr>
            <a:r>
              <a:t>2. Technical Upgrades</a:t>
            </a:r>
          </a:p>
        </p:txBody>
      </p:sp>
      <p:sp>
        <p:nvSpPr>
          <p:cNvPr id="13" name="TextBox 12"/>
          <p:cNvSpPr txBox="1"/>
          <p:nvPr/>
        </p:nvSpPr>
        <p:spPr>
          <a:xfrm>
            <a:off x="6400800" y="2194560"/>
            <a:ext cx="4937760" cy="1280160"/>
          </a:xfrm>
          <a:prstGeom prst="rect">
            <a:avLst/>
          </a:prstGeom>
          <a:noFill/>
        </p:spPr>
        <p:txBody>
          <a:bodyPr wrap="square" lIns="0" tIns="0" rIns="0" bIns="0">
            <a:spAutoFit/>
          </a:bodyPr>
          <a:lstStyle/>
          <a:p>
            <a:pPr>
              <a:defRPr sz="1100">
                <a:solidFill>
                  <a:srgbClr val="0F172A"/>
                </a:solidFill>
                <a:latin typeface="Calibri"/>
              </a:defRPr>
            </a:pPr>
            <a:r>
              <a:t>• Implement Server-Side Rendering (SSR) for SEO.</a:t>
            </a:r>
          </a:p>
          <a:p>
            <a:pPr>
              <a:defRPr sz="1100">
                <a:solidFill>
                  <a:srgbClr val="0F172A"/>
                </a:solidFill>
                <a:latin typeface="Calibri"/>
              </a:defRPr>
            </a:pPr>
            <a:r>
              <a:t>• Configure Gzip compression to increase speed.</a:t>
            </a:r>
          </a:p>
          <a:p>
            <a:pPr>
              <a:defRPr sz="1100">
                <a:solidFill>
                  <a:srgbClr val="0F172A"/>
                </a:solidFill>
                <a:latin typeface="Calibri"/>
              </a:defRPr>
            </a:pPr>
            <a:r>
              <a:t>• Automate schema structure tags in products catalogue.</a:t>
            </a:r>
          </a:p>
        </p:txBody>
      </p:sp>
      <p:sp>
        <p:nvSpPr>
          <p:cNvPr id="14" name="Rounded Rectangle 13"/>
          <p:cNvSpPr/>
          <p:nvPr/>
        </p:nvSpPr>
        <p:spPr>
          <a:xfrm>
            <a:off x="60350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4937760" cy="365760"/>
          </a:xfrm>
          <a:prstGeom prst="rect">
            <a:avLst/>
          </a:prstGeom>
          <a:noFill/>
        </p:spPr>
        <p:txBody>
          <a:bodyPr wrap="square" lIns="0" tIns="0" rIns="0" bIns="0">
            <a:spAutoFit/>
          </a:bodyPr>
          <a:lstStyle/>
          <a:p>
            <a:pPr algn="l">
              <a:defRPr sz="1500" b="1">
                <a:solidFill>
                  <a:srgbClr val="EA580C"/>
                </a:solidFill>
                <a:latin typeface="Calibri"/>
              </a:defRPr>
            </a:pPr>
            <a:r>
              <a:t>3. Marketing Integrations</a:t>
            </a:r>
          </a:p>
        </p:txBody>
      </p:sp>
      <p:sp>
        <p:nvSpPr>
          <p:cNvPr id="17" name="TextBox 16"/>
          <p:cNvSpPr txBox="1"/>
          <p:nvPr/>
        </p:nvSpPr>
        <p:spPr>
          <a:xfrm>
            <a:off x="731520" y="4663440"/>
            <a:ext cx="4937760" cy="1280160"/>
          </a:xfrm>
          <a:prstGeom prst="rect">
            <a:avLst/>
          </a:prstGeom>
          <a:noFill/>
        </p:spPr>
        <p:txBody>
          <a:bodyPr wrap="square" lIns="0" tIns="0" rIns="0" bIns="0">
            <a:spAutoFit/>
          </a:bodyPr>
          <a:lstStyle/>
          <a:p>
            <a:pPr>
              <a:defRPr sz="1100">
                <a:solidFill>
                  <a:srgbClr val="0F172A"/>
                </a:solidFill>
                <a:latin typeface="Calibri"/>
              </a:defRPr>
            </a:pPr>
            <a:r>
              <a:t>• Incorporate Google Analytics tag tracking.</a:t>
            </a:r>
          </a:p>
          <a:p>
            <a:pPr>
              <a:defRPr sz="1100">
                <a:solidFill>
                  <a:srgbClr val="0F172A"/>
                </a:solidFill>
                <a:latin typeface="Calibri"/>
              </a:defRPr>
            </a:pPr>
            <a:r>
              <a:t>• Embed Meta pixel tracking to capture visitor activities.</a:t>
            </a:r>
          </a:p>
          <a:p>
            <a:pPr>
              <a:defRPr sz="1100">
                <a:solidFill>
                  <a:srgbClr val="0F172A"/>
                </a:solidFill>
                <a:latin typeface="Calibri"/>
              </a:defRPr>
            </a:pPr>
            <a:r>
              <a:t>• Link WhatsApp conversions to tracking dashboards.</a:t>
            </a:r>
          </a:p>
        </p:txBody>
      </p:sp>
      <p:sp>
        <p:nvSpPr>
          <p:cNvPr id="18" name="Rounded Rectangle 17"/>
          <p:cNvSpPr/>
          <p:nvPr/>
        </p:nvSpPr>
        <p:spPr>
          <a:xfrm>
            <a:off x="6272784" y="4169664"/>
            <a:ext cx="53035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4114800"/>
            <a:ext cx="53035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297680"/>
            <a:ext cx="4937760" cy="365760"/>
          </a:xfrm>
          <a:prstGeom prst="rect">
            <a:avLst/>
          </a:prstGeom>
          <a:noFill/>
        </p:spPr>
        <p:txBody>
          <a:bodyPr wrap="square" lIns="0" tIns="0" rIns="0" bIns="0">
            <a:spAutoFit/>
          </a:bodyPr>
          <a:lstStyle/>
          <a:p>
            <a:pPr algn="l">
              <a:defRPr sz="1500" b="1">
                <a:solidFill>
                  <a:srgbClr val="0F172A"/>
                </a:solidFill>
                <a:latin typeface="Calibri"/>
              </a:defRPr>
            </a:pPr>
            <a:r>
              <a:t>4. Future Value Boosters</a:t>
            </a:r>
          </a:p>
        </p:txBody>
      </p:sp>
      <p:sp>
        <p:nvSpPr>
          <p:cNvPr id="21" name="TextBox 20"/>
          <p:cNvSpPr txBox="1"/>
          <p:nvPr/>
        </p:nvSpPr>
        <p:spPr>
          <a:xfrm>
            <a:off x="6400800" y="4663440"/>
            <a:ext cx="4937760" cy="1280160"/>
          </a:xfrm>
          <a:prstGeom prst="rect">
            <a:avLst/>
          </a:prstGeom>
          <a:noFill/>
        </p:spPr>
        <p:txBody>
          <a:bodyPr wrap="square" lIns="0" tIns="0" rIns="0" bIns="0">
            <a:spAutoFit/>
          </a:bodyPr>
          <a:lstStyle/>
          <a:p>
            <a:pPr>
              <a:defRPr sz="1100">
                <a:solidFill>
                  <a:srgbClr val="0F172A"/>
                </a:solidFill>
                <a:latin typeface="Calibri"/>
              </a:defRPr>
            </a:pPr>
            <a:r>
              <a:t>• Incorporate a physical PDF Catalogue reader widget.</a:t>
            </a:r>
          </a:p>
          <a:p>
            <a:pPr>
              <a:defRPr sz="1100">
                <a:solidFill>
                  <a:srgbClr val="0F172A"/>
                </a:solidFill>
                <a:latin typeface="Calibri"/>
              </a:defRPr>
            </a:pPr>
            <a:r>
              <a:t>• Add video gallery showing product applications on fields.</a:t>
            </a:r>
          </a:p>
          <a:p>
            <a:pPr>
              <a:defRPr sz="1100">
                <a:solidFill>
                  <a:srgbClr val="0F172A"/>
                </a:solidFill>
                <a:latin typeface="Calibri"/>
              </a:defRPr>
            </a:pPr>
            <a:r>
              <a:t>• Deploy a farmer Advisory dashboard.</a:t>
            </a:r>
          </a:p>
        </p:txBody>
      </p:sp>
    </p:spTree>
  </p:cSld>
  <p:transition>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WEB MARKETING</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Website Traffic &amp; Dealer Growth Funnel</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GROWTH STRATEGY ROADMAP</a:t>
            </a:r>
          </a:p>
        </p:txBody>
      </p:sp>
      <p:sp>
        <p:nvSpPr>
          <p:cNvPr id="9" name="TextBox 8"/>
          <p:cNvSpPr txBox="1"/>
          <p:nvPr/>
        </p:nvSpPr>
        <p:spPr>
          <a:xfrm>
            <a:off x="822960" y="2286000"/>
            <a:ext cx="4754880" cy="3657600"/>
          </a:xfrm>
          <a:prstGeom prst="rect">
            <a:avLst/>
          </a:prstGeom>
          <a:noFill/>
        </p:spPr>
        <p:txBody>
          <a:bodyPr wrap="square" lIns="0" tIns="0" rIns="0" bIns="0">
            <a:spAutoFit/>
          </a:bodyPr>
          <a:lstStyle/>
          <a:p>
            <a:pPr>
              <a:defRPr sz="1300">
                <a:solidFill>
                  <a:srgbClr val="0F172A"/>
                </a:solidFill>
                <a:latin typeface="Calibri"/>
              </a:defRPr>
            </a:pPr>
            <a:r>
              <a:t>• Google Search Ads: Bid on commercial terms (e.g. 'Pesticide Distributor Gujarat') to target commercial buyers.</a:t>
            </a:r>
          </a:p>
          <a:p>
            <a:pPr>
              <a:defRPr sz="1300">
                <a:solidFill>
                  <a:srgbClr val="0F172A"/>
                </a:solidFill>
                <a:latin typeface="Calibri"/>
              </a:defRPr>
            </a:pPr>
            <a:r>
              <a:t>• Meta Video Ads: Present educational video content to farmers showing pest solutions, linking to the AI Doctor.</a:t>
            </a:r>
          </a:p>
          <a:p>
            <a:pPr>
              <a:defRPr sz="1300">
                <a:solidFill>
                  <a:srgbClr val="0F172A"/>
                </a:solidFill>
                <a:latin typeface="Calibri"/>
              </a:defRPr>
            </a:pPr>
            <a:r>
              <a:t>• WhatsApp Broadcast CRM: Dispatch seasonal dosage charts and new inventory brochures directly to registered dealer contacts.</a:t>
            </a:r>
          </a:p>
          <a:p>
            <a:pPr>
              <a:defRPr sz="1300">
                <a:solidFill>
                  <a:srgbClr val="0F172A"/>
                </a:solidFill>
                <a:latin typeface="Calibri"/>
              </a:defRPr>
            </a:pPr>
            <a:r>
              <a:t>• Local SEO Focus: Optimize the Rajkot plant Google Business map listing to pull in offline regional visitors.</a:t>
            </a:r>
          </a:p>
        </p:txBody>
      </p:sp>
      <p:sp>
        <p:nvSpPr>
          <p:cNvPr id="10" name="Rounded Rectangle 9"/>
          <p:cNvSpPr/>
          <p:nvPr/>
        </p:nvSpPr>
        <p:spPr>
          <a:xfrm>
            <a:off x="6309360" y="5006340"/>
            <a:ext cx="5303520" cy="137160"/>
          </a:xfrm>
          <a:prstGeom prst="roundRect">
            <a:avLst/>
          </a:prstGeom>
          <a:solidFill>
            <a:srgbClr val="8C8C8C"/>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1920240"/>
            <a:ext cx="4754880" cy="30861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ntact.png"/>
          <p:cNvPicPr>
            <a:picLocks noChangeAspect="1"/>
          </p:cNvPicPr>
          <p:nvPr/>
        </p:nvPicPr>
        <p:blipFill>
          <a:blip r:embed="rId2"/>
          <a:stretch>
            <a:fillRect/>
          </a:stretch>
        </p:blipFill>
        <p:spPr>
          <a:xfrm>
            <a:off x="6675120" y="2011680"/>
            <a:ext cx="4572000" cy="2857500"/>
          </a:xfrm>
          <a:prstGeom prst="rect">
            <a:avLst/>
          </a:prstGeom>
        </p:spPr>
      </p:pic>
    </p:spTree>
  </p:cSld>
  <p:transition>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ANALYTICS AUDIT</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Platform Conversion Funnel Metrics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25603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2560320"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20240"/>
            <a:ext cx="2286000" cy="274320"/>
          </a:xfrm>
          <a:prstGeom prst="rect">
            <a:avLst/>
          </a:prstGeom>
          <a:noFill/>
        </p:spPr>
        <p:txBody>
          <a:bodyPr wrap="square" lIns="0" tIns="0" rIns="0" bIns="0">
            <a:spAutoFit/>
          </a:bodyPr>
          <a:lstStyle/>
          <a:p>
            <a:pPr algn="ctr">
              <a:defRPr sz="1200" b="1">
                <a:solidFill>
                  <a:srgbClr val="0284C7"/>
                </a:solidFill>
                <a:latin typeface="Calibri"/>
              </a:defRPr>
            </a:pPr>
            <a:r>
              <a:t>VISITORS</a:t>
            </a:r>
          </a:p>
        </p:txBody>
      </p:sp>
      <p:sp>
        <p:nvSpPr>
          <p:cNvPr id="10" name="TextBox 9"/>
          <p:cNvSpPr txBox="1"/>
          <p:nvPr/>
        </p:nvSpPr>
        <p:spPr>
          <a:xfrm>
            <a:off x="685800" y="2194560"/>
            <a:ext cx="2286000" cy="548640"/>
          </a:xfrm>
          <a:prstGeom prst="rect">
            <a:avLst/>
          </a:prstGeom>
          <a:noFill/>
        </p:spPr>
        <p:txBody>
          <a:bodyPr wrap="square" lIns="0" tIns="0" rIns="0" bIns="0">
            <a:spAutoFit/>
          </a:bodyPr>
          <a:lstStyle/>
          <a:p>
            <a:pPr algn="ctr">
              <a:defRPr sz="2800" b="1">
                <a:solidFill>
                  <a:srgbClr val="0F172A"/>
                </a:solidFill>
                <a:latin typeface="Calibri"/>
              </a:defRPr>
            </a:pPr>
            <a:r>
              <a:t>15,000+</a:t>
            </a:r>
          </a:p>
        </p:txBody>
      </p:sp>
      <p:sp>
        <p:nvSpPr>
          <p:cNvPr id="11" name="TextBox 10"/>
          <p:cNvSpPr txBox="1"/>
          <p:nvPr/>
        </p:nvSpPr>
        <p:spPr>
          <a:xfrm>
            <a:off x="685800" y="2834640"/>
            <a:ext cx="2286000" cy="457200"/>
          </a:xfrm>
          <a:prstGeom prst="rect">
            <a:avLst/>
          </a:prstGeom>
          <a:noFill/>
        </p:spPr>
        <p:txBody>
          <a:bodyPr wrap="square" lIns="0" tIns="0" rIns="0" bIns="0">
            <a:spAutoFit/>
          </a:bodyPr>
          <a:lstStyle/>
          <a:p>
            <a:pPr algn="ctr">
              <a:defRPr sz="1000" b="0">
                <a:solidFill>
                  <a:srgbClr val="64748B"/>
                </a:solidFill>
                <a:latin typeface="Calibri"/>
              </a:defRPr>
            </a:pPr>
            <a:r>
              <a:t>Monthly unique visits</a:t>
            </a:r>
          </a:p>
        </p:txBody>
      </p:sp>
      <p:sp>
        <p:nvSpPr>
          <p:cNvPr id="12" name="Rounded Rectangle 11"/>
          <p:cNvSpPr/>
          <p:nvPr/>
        </p:nvSpPr>
        <p:spPr>
          <a:xfrm>
            <a:off x="3438144" y="1700784"/>
            <a:ext cx="25603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645920"/>
            <a:ext cx="2560320"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920240"/>
            <a:ext cx="2286000" cy="274320"/>
          </a:xfrm>
          <a:prstGeom prst="rect">
            <a:avLst/>
          </a:prstGeom>
          <a:noFill/>
        </p:spPr>
        <p:txBody>
          <a:bodyPr wrap="square" lIns="0" tIns="0" rIns="0" bIns="0">
            <a:spAutoFit/>
          </a:bodyPr>
          <a:lstStyle/>
          <a:p>
            <a:pPr algn="ctr">
              <a:defRPr sz="1200" b="1">
                <a:solidFill>
                  <a:srgbClr val="15803D"/>
                </a:solidFill>
                <a:latin typeface="Calibri"/>
              </a:defRPr>
            </a:pPr>
            <a:r>
              <a:t>INQUIRIES</a:t>
            </a:r>
          </a:p>
        </p:txBody>
      </p:sp>
      <p:sp>
        <p:nvSpPr>
          <p:cNvPr id="16" name="TextBox 15"/>
          <p:cNvSpPr txBox="1"/>
          <p:nvPr/>
        </p:nvSpPr>
        <p:spPr>
          <a:xfrm>
            <a:off x="3520440" y="2194560"/>
            <a:ext cx="2286000" cy="548640"/>
          </a:xfrm>
          <a:prstGeom prst="rect">
            <a:avLst/>
          </a:prstGeom>
          <a:noFill/>
        </p:spPr>
        <p:txBody>
          <a:bodyPr wrap="square" lIns="0" tIns="0" rIns="0" bIns="0">
            <a:spAutoFit/>
          </a:bodyPr>
          <a:lstStyle/>
          <a:p>
            <a:pPr algn="ctr">
              <a:defRPr sz="2800" b="1">
                <a:solidFill>
                  <a:srgbClr val="0F172A"/>
                </a:solidFill>
                <a:latin typeface="Calibri"/>
              </a:defRPr>
            </a:pPr>
            <a:r>
              <a:t>480+</a:t>
            </a:r>
          </a:p>
        </p:txBody>
      </p:sp>
      <p:sp>
        <p:nvSpPr>
          <p:cNvPr id="17" name="TextBox 16"/>
          <p:cNvSpPr txBox="1"/>
          <p:nvPr/>
        </p:nvSpPr>
        <p:spPr>
          <a:xfrm>
            <a:off x="3520440" y="2834640"/>
            <a:ext cx="2286000" cy="457200"/>
          </a:xfrm>
          <a:prstGeom prst="rect">
            <a:avLst/>
          </a:prstGeom>
          <a:noFill/>
        </p:spPr>
        <p:txBody>
          <a:bodyPr wrap="square" lIns="0" tIns="0" rIns="0" bIns="0">
            <a:spAutoFit/>
          </a:bodyPr>
          <a:lstStyle/>
          <a:p>
            <a:pPr algn="ctr">
              <a:defRPr sz="1000" b="0">
                <a:solidFill>
                  <a:srgbClr val="64748B"/>
                </a:solidFill>
                <a:latin typeface="Calibri"/>
              </a:defRPr>
            </a:pPr>
            <a:r>
              <a:t>Product dose lookups</a:t>
            </a:r>
          </a:p>
        </p:txBody>
      </p:sp>
      <p:sp>
        <p:nvSpPr>
          <p:cNvPr id="18" name="Rounded Rectangle 17"/>
          <p:cNvSpPr/>
          <p:nvPr/>
        </p:nvSpPr>
        <p:spPr>
          <a:xfrm>
            <a:off x="6272784" y="1700784"/>
            <a:ext cx="25603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45920"/>
            <a:ext cx="2560320" cy="91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920240"/>
            <a:ext cx="2286000" cy="274320"/>
          </a:xfrm>
          <a:prstGeom prst="rect">
            <a:avLst/>
          </a:prstGeom>
          <a:noFill/>
        </p:spPr>
        <p:txBody>
          <a:bodyPr wrap="square" lIns="0" tIns="0" rIns="0" bIns="0">
            <a:spAutoFit/>
          </a:bodyPr>
          <a:lstStyle/>
          <a:p>
            <a:pPr algn="ctr">
              <a:defRPr sz="1200" b="1">
                <a:solidFill>
                  <a:srgbClr val="EA580C"/>
                </a:solidFill>
                <a:latin typeface="Calibri"/>
              </a:defRPr>
            </a:pPr>
            <a:r>
              <a:t>WHATSAPP</a:t>
            </a:r>
          </a:p>
        </p:txBody>
      </p:sp>
      <p:sp>
        <p:nvSpPr>
          <p:cNvPr id="22" name="TextBox 21"/>
          <p:cNvSpPr txBox="1"/>
          <p:nvPr/>
        </p:nvSpPr>
        <p:spPr>
          <a:xfrm>
            <a:off x="6355080" y="2194560"/>
            <a:ext cx="2286000" cy="548640"/>
          </a:xfrm>
          <a:prstGeom prst="rect">
            <a:avLst/>
          </a:prstGeom>
          <a:noFill/>
        </p:spPr>
        <p:txBody>
          <a:bodyPr wrap="square" lIns="0" tIns="0" rIns="0" bIns="0">
            <a:spAutoFit/>
          </a:bodyPr>
          <a:lstStyle/>
          <a:p>
            <a:pPr algn="ctr">
              <a:defRPr sz="2800" b="1">
                <a:solidFill>
                  <a:srgbClr val="0F172A"/>
                </a:solidFill>
                <a:latin typeface="Calibri"/>
              </a:defRPr>
            </a:pPr>
            <a:r>
              <a:t>320+</a:t>
            </a:r>
          </a:p>
        </p:txBody>
      </p:sp>
      <p:sp>
        <p:nvSpPr>
          <p:cNvPr id="23" name="TextBox 22"/>
          <p:cNvSpPr txBox="1"/>
          <p:nvPr/>
        </p:nvSpPr>
        <p:spPr>
          <a:xfrm>
            <a:off x="6355080" y="2834640"/>
            <a:ext cx="2286000" cy="457200"/>
          </a:xfrm>
          <a:prstGeom prst="rect">
            <a:avLst/>
          </a:prstGeom>
          <a:noFill/>
        </p:spPr>
        <p:txBody>
          <a:bodyPr wrap="square" lIns="0" tIns="0" rIns="0" bIns="0">
            <a:spAutoFit/>
          </a:bodyPr>
          <a:lstStyle/>
          <a:p>
            <a:pPr algn="ctr">
              <a:defRPr sz="1000" b="0">
                <a:solidFill>
                  <a:srgbClr val="64748B"/>
                </a:solidFill>
                <a:latin typeface="Calibri"/>
              </a:defRPr>
            </a:pPr>
            <a:r>
              <a:t>Direct chat connections</a:t>
            </a:r>
          </a:p>
        </p:txBody>
      </p:sp>
      <p:sp>
        <p:nvSpPr>
          <p:cNvPr id="24" name="Rounded Rectangle 23"/>
          <p:cNvSpPr/>
          <p:nvPr/>
        </p:nvSpPr>
        <p:spPr>
          <a:xfrm>
            <a:off x="9107424" y="1700784"/>
            <a:ext cx="256032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5256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1645920"/>
            <a:ext cx="2560320"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20" y="1920240"/>
            <a:ext cx="2286000" cy="274320"/>
          </a:xfrm>
          <a:prstGeom prst="rect">
            <a:avLst/>
          </a:prstGeom>
          <a:noFill/>
        </p:spPr>
        <p:txBody>
          <a:bodyPr wrap="square" lIns="0" tIns="0" rIns="0" bIns="0">
            <a:spAutoFit/>
          </a:bodyPr>
          <a:lstStyle/>
          <a:p>
            <a:pPr algn="ctr">
              <a:defRPr sz="1200" b="1">
                <a:solidFill>
                  <a:srgbClr val="0F172A"/>
                </a:solidFill>
                <a:latin typeface="Calibri"/>
              </a:defRPr>
            </a:pPr>
            <a:r>
              <a:t>DEALERS</a:t>
            </a:r>
          </a:p>
        </p:txBody>
      </p:sp>
      <p:sp>
        <p:nvSpPr>
          <p:cNvPr id="28" name="TextBox 27"/>
          <p:cNvSpPr txBox="1"/>
          <p:nvPr/>
        </p:nvSpPr>
        <p:spPr>
          <a:xfrm>
            <a:off x="9189720" y="2194560"/>
            <a:ext cx="2286000" cy="548640"/>
          </a:xfrm>
          <a:prstGeom prst="rect">
            <a:avLst/>
          </a:prstGeom>
          <a:noFill/>
        </p:spPr>
        <p:txBody>
          <a:bodyPr wrap="square" lIns="0" tIns="0" rIns="0" bIns="0">
            <a:spAutoFit/>
          </a:bodyPr>
          <a:lstStyle/>
          <a:p>
            <a:pPr algn="ctr">
              <a:defRPr sz="2800" b="1">
                <a:solidFill>
                  <a:srgbClr val="0F172A"/>
                </a:solidFill>
                <a:latin typeface="Calibri"/>
              </a:defRPr>
            </a:pPr>
            <a:r>
              <a:t>120+</a:t>
            </a:r>
          </a:p>
        </p:txBody>
      </p:sp>
      <p:sp>
        <p:nvSpPr>
          <p:cNvPr id="29" name="TextBox 28"/>
          <p:cNvSpPr txBox="1"/>
          <p:nvPr/>
        </p:nvSpPr>
        <p:spPr>
          <a:xfrm>
            <a:off x="9189720" y="2834640"/>
            <a:ext cx="2286000" cy="457200"/>
          </a:xfrm>
          <a:prstGeom prst="rect">
            <a:avLst/>
          </a:prstGeom>
          <a:noFill/>
        </p:spPr>
        <p:txBody>
          <a:bodyPr wrap="square" lIns="0" tIns="0" rIns="0" bIns="0">
            <a:spAutoFit/>
          </a:bodyPr>
          <a:lstStyle/>
          <a:p>
            <a:pPr algn="ctr">
              <a:defRPr sz="1000" b="0">
                <a:solidFill>
                  <a:srgbClr val="64748B"/>
                </a:solidFill>
                <a:latin typeface="Calibri"/>
              </a:defRPr>
            </a:pPr>
            <a:r>
              <a:t>Form submissions</a:t>
            </a:r>
          </a:p>
        </p:txBody>
      </p:sp>
      <p:sp>
        <p:nvSpPr>
          <p:cNvPr id="30" name="Rounded Rectangle 29"/>
          <p:cNvSpPr/>
          <p:nvPr/>
        </p:nvSpPr>
        <p:spPr>
          <a:xfrm>
            <a:off x="603504" y="4169664"/>
            <a:ext cx="11094415"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40" y="4114800"/>
            <a:ext cx="11094415" cy="210312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389120"/>
            <a:ext cx="10545775" cy="365760"/>
          </a:xfrm>
          <a:prstGeom prst="rect">
            <a:avLst/>
          </a:prstGeom>
          <a:noFill/>
        </p:spPr>
        <p:txBody>
          <a:bodyPr wrap="square" lIns="0" tIns="0" rIns="0" bIns="0">
            <a:spAutoFit/>
          </a:bodyPr>
          <a:lstStyle/>
          <a:p>
            <a:pPr algn="l">
              <a:defRPr sz="1600" b="1">
                <a:solidFill>
                  <a:srgbClr val="15803D"/>
                </a:solidFill>
                <a:latin typeface="Calibri"/>
              </a:defRPr>
            </a:pPr>
            <a:r>
              <a:t>CONVERSION FUNNEL EFFICIENCY</a:t>
            </a:r>
          </a:p>
        </p:txBody>
      </p:sp>
      <p:sp>
        <p:nvSpPr>
          <p:cNvPr id="33" name="TextBox 32"/>
          <p:cNvSpPr txBox="1"/>
          <p:nvPr/>
        </p:nvSpPr>
        <p:spPr>
          <a:xfrm>
            <a:off x="822960" y="4846320"/>
            <a:ext cx="10545775" cy="1097280"/>
          </a:xfrm>
          <a:prstGeom prst="rect">
            <a:avLst/>
          </a:prstGeom>
          <a:noFill/>
        </p:spPr>
        <p:txBody>
          <a:bodyPr wrap="square" lIns="0" tIns="0" rIns="0" bIns="0">
            <a:spAutoFit/>
          </a:bodyPr>
          <a:lstStyle/>
          <a:p>
            <a:pPr algn="l">
              <a:defRPr sz="1300" b="0">
                <a:solidFill>
                  <a:srgbClr val="FFFFFF"/>
                </a:solidFill>
                <a:latin typeface="Calibri"/>
              </a:defRPr>
            </a:pPr>
            <a:r>
              <a:t>By implementing direct database lead capture, the platform registers a 3.2% Click-to-WhatsApp support rate and a 0.8% B2B Dealer registration rate.</a:t>
            </a:r>
            <a:br/>
            <a:r>
              <a:t>This automated qualification pipeline eliminates raw administrative overhead, saving the corporate sales division over 60 hours per month.</a:t>
            </a:r>
          </a:p>
        </p:txBody>
      </p:sp>
    </p:spTree>
  </p:cSld>
  <p:transition>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BUSINESS VALUE</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Client Benefits of Digital Transformation</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3383280"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20240"/>
            <a:ext cx="3017520" cy="731520"/>
          </a:xfrm>
          <a:prstGeom prst="rect">
            <a:avLst/>
          </a:prstGeom>
          <a:noFill/>
        </p:spPr>
        <p:txBody>
          <a:bodyPr wrap="square" lIns="0" tIns="0" rIns="0" bIns="0">
            <a:spAutoFit/>
          </a:bodyPr>
          <a:lstStyle/>
          <a:p>
            <a:pPr algn="l">
              <a:defRPr sz="1500" b="1">
                <a:solidFill>
                  <a:srgbClr val="0284C7"/>
                </a:solidFill>
                <a:latin typeface="Calibri"/>
              </a:defRPr>
            </a:pPr>
            <a:r>
              <a:t>Automated Sales Qualified Leads</a:t>
            </a:r>
          </a:p>
        </p:txBody>
      </p:sp>
      <p:sp>
        <p:nvSpPr>
          <p:cNvPr id="10" name="TextBox 9"/>
          <p:cNvSpPr txBox="1"/>
          <p:nvPr/>
        </p:nvSpPr>
        <p:spPr>
          <a:xfrm>
            <a:off x="731520" y="2834640"/>
            <a:ext cx="3017520" cy="3200400"/>
          </a:xfrm>
          <a:prstGeom prst="rect">
            <a:avLst/>
          </a:prstGeom>
          <a:noFill/>
        </p:spPr>
        <p:txBody>
          <a:bodyPr wrap="square" lIns="0" tIns="0" rIns="0" bIns="0">
            <a:spAutoFit/>
          </a:bodyPr>
          <a:lstStyle/>
          <a:p>
            <a:pPr>
              <a:defRPr sz="1200">
                <a:solidFill>
                  <a:srgbClr val="0F172A"/>
                </a:solidFill>
                <a:latin typeface="Calibri"/>
              </a:defRPr>
            </a:pPr>
            <a:r>
              <a:t>• Validates GST &amp; Drug Licenses on submission.</a:t>
            </a:r>
          </a:p>
          <a:p>
            <a:pPr>
              <a:defRPr sz="1200">
                <a:solidFill>
                  <a:srgbClr val="0F172A"/>
                </a:solidFill>
                <a:latin typeface="Calibri"/>
              </a:defRPr>
            </a:pPr>
            <a:r>
              <a:t>• Filters low-quality contacts from warm buyers.</a:t>
            </a:r>
          </a:p>
          <a:p>
            <a:pPr>
              <a:defRPr sz="1200">
                <a:solidFill>
                  <a:srgbClr val="0F172A"/>
                </a:solidFill>
                <a:latin typeface="Calibri"/>
              </a:defRPr>
            </a:pPr>
            <a:r>
              <a:t>• Alerts regional managers instantly via cloud database triggers.</a:t>
            </a:r>
          </a:p>
        </p:txBody>
      </p:sp>
      <p:sp>
        <p:nvSpPr>
          <p:cNvPr id="11" name="Rounded Rectangle 10"/>
          <p:cNvSpPr/>
          <p:nvPr/>
        </p:nvSpPr>
        <p:spPr>
          <a:xfrm>
            <a:off x="435254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768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645920"/>
            <a:ext cx="3383280" cy="1097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920240"/>
            <a:ext cx="3017520" cy="731520"/>
          </a:xfrm>
          <a:prstGeom prst="rect">
            <a:avLst/>
          </a:prstGeom>
          <a:noFill/>
        </p:spPr>
        <p:txBody>
          <a:bodyPr wrap="square" lIns="0" tIns="0" rIns="0" bIns="0">
            <a:spAutoFit/>
          </a:bodyPr>
          <a:lstStyle/>
          <a:p>
            <a:pPr algn="l">
              <a:defRPr sz="1500" b="1">
                <a:solidFill>
                  <a:srgbClr val="15803D"/>
                </a:solidFill>
                <a:latin typeface="Calibri"/>
              </a:defRPr>
            </a:pPr>
            <a:r>
              <a:t>Reduced Support Overhead</a:t>
            </a:r>
          </a:p>
        </p:txBody>
      </p:sp>
      <p:sp>
        <p:nvSpPr>
          <p:cNvPr id="15" name="TextBox 14"/>
          <p:cNvSpPr txBox="1"/>
          <p:nvPr/>
        </p:nvSpPr>
        <p:spPr>
          <a:xfrm>
            <a:off x="4480560" y="2834640"/>
            <a:ext cx="3017520" cy="3200400"/>
          </a:xfrm>
          <a:prstGeom prst="rect">
            <a:avLst/>
          </a:prstGeom>
          <a:noFill/>
        </p:spPr>
        <p:txBody>
          <a:bodyPr wrap="square" lIns="0" tIns="0" rIns="0" bIns="0">
            <a:spAutoFit/>
          </a:bodyPr>
          <a:lstStyle/>
          <a:p>
            <a:pPr>
              <a:defRPr sz="1200">
                <a:solidFill>
                  <a:srgbClr val="0F172A"/>
                </a:solidFill>
                <a:latin typeface="Calibri"/>
              </a:defRPr>
            </a:pPr>
            <a:r>
              <a:t>• Dosage charts answer common farmer application queries.</a:t>
            </a:r>
          </a:p>
          <a:p>
            <a:pPr>
              <a:defRPr sz="1200">
                <a:solidFill>
                  <a:srgbClr val="0F172A"/>
                </a:solidFill>
                <a:latin typeface="Calibri"/>
              </a:defRPr>
            </a:pPr>
            <a:r>
              <a:t>• PDF spec sheets are available for self-service lookup.</a:t>
            </a:r>
          </a:p>
          <a:p>
            <a:pPr>
              <a:defRPr sz="1200">
                <a:solidFill>
                  <a:srgbClr val="0F172A"/>
                </a:solidFill>
                <a:latin typeface="Calibri"/>
              </a:defRPr>
            </a:pPr>
            <a:r>
              <a:t>• Integrated AI diagnostic reduces agent manual check times.</a:t>
            </a:r>
          </a:p>
        </p:txBody>
      </p:sp>
      <p:sp>
        <p:nvSpPr>
          <p:cNvPr id="16" name="Rounded Rectangle 15"/>
          <p:cNvSpPr/>
          <p:nvPr/>
        </p:nvSpPr>
        <p:spPr>
          <a:xfrm>
            <a:off x="8101584" y="1700784"/>
            <a:ext cx="338328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645920"/>
            <a:ext cx="3383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920240"/>
            <a:ext cx="3017520" cy="731520"/>
          </a:xfrm>
          <a:prstGeom prst="rect">
            <a:avLst/>
          </a:prstGeom>
          <a:noFill/>
        </p:spPr>
        <p:txBody>
          <a:bodyPr wrap="square" lIns="0" tIns="0" rIns="0" bIns="0">
            <a:spAutoFit/>
          </a:bodyPr>
          <a:lstStyle/>
          <a:p>
            <a:pPr algn="l">
              <a:defRPr sz="1500" b="1">
                <a:solidFill>
                  <a:srgbClr val="EA580C"/>
                </a:solidFill>
                <a:latin typeface="Calibri"/>
              </a:defRPr>
            </a:pPr>
            <a:r>
              <a:t>Nationwide Distribution Expansion</a:t>
            </a:r>
          </a:p>
        </p:txBody>
      </p:sp>
      <p:sp>
        <p:nvSpPr>
          <p:cNvPr id="20" name="TextBox 19"/>
          <p:cNvSpPr txBox="1"/>
          <p:nvPr/>
        </p:nvSpPr>
        <p:spPr>
          <a:xfrm>
            <a:off x="8229600" y="2834640"/>
            <a:ext cx="3017520" cy="3200400"/>
          </a:xfrm>
          <a:prstGeom prst="rect">
            <a:avLst/>
          </a:prstGeom>
          <a:noFill/>
        </p:spPr>
        <p:txBody>
          <a:bodyPr wrap="square" lIns="0" tIns="0" rIns="0" bIns="0">
            <a:spAutoFit/>
          </a:bodyPr>
          <a:lstStyle/>
          <a:p>
            <a:pPr>
              <a:defRPr sz="1200">
                <a:solidFill>
                  <a:srgbClr val="0F172A"/>
                </a:solidFill>
                <a:latin typeface="Calibri"/>
              </a:defRPr>
            </a:pPr>
            <a:r>
              <a:t>• Establishes a corporate digital storefront visible outside Gujarat.</a:t>
            </a:r>
          </a:p>
          <a:p>
            <a:pPr>
              <a:defRPr sz="1200">
                <a:solidFill>
                  <a:srgbClr val="0F172A"/>
                </a:solidFill>
                <a:latin typeface="Calibri"/>
              </a:defRPr>
            </a:pPr>
            <a:r>
              <a:t>• Demonstrates manufacturing legitimacy to national networks.</a:t>
            </a:r>
          </a:p>
          <a:p>
            <a:pPr>
              <a:defRPr sz="1200">
                <a:solidFill>
                  <a:srgbClr val="0F172A"/>
                </a:solidFill>
                <a:latin typeface="Calibri"/>
              </a:defRPr>
            </a:pPr>
            <a:r>
              <a:t>• Drives dealer acquisition campaigns at low cost.</a:t>
            </a:r>
          </a:p>
        </p:txBody>
      </p:sp>
    </p:spTree>
  </p:cSld>
  <p:transition>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Calibri"/>
              </a:defRPr>
            </a:pPr>
            <a:r>
              <a:t>EXECUTIVE SUMMARY</a:t>
            </a:r>
          </a:p>
        </p:txBody>
      </p:sp>
      <p:sp>
        <p:nvSpPr>
          <p:cNvPr id="4" name="TextBox 3"/>
          <p:cNvSpPr txBox="1"/>
          <p:nvPr/>
        </p:nvSpPr>
        <p:spPr>
          <a:xfrm>
            <a:off x="548640" y="594360"/>
            <a:ext cx="10972800" cy="548640"/>
          </a:xfrm>
          <a:prstGeom prst="rect">
            <a:avLst/>
          </a:prstGeom>
          <a:noFill/>
        </p:spPr>
        <p:txBody>
          <a:bodyPr wrap="square" lIns="0" tIns="0" rIns="0" bIns="0">
            <a:spAutoFit/>
          </a:bodyPr>
          <a:lstStyle/>
          <a:p>
            <a:pPr>
              <a:defRPr sz="2400" b="1">
                <a:solidFill>
                  <a:srgbClr val="0F172A"/>
                </a:solidFill>
                <a:latin typeface="Segoe UI"/>
              </a:defRPr>
            </a:pPr>
            <a:r>
              <a:t>Key Strengths &amp; Platform Takeaways</a:t>
            </a:r>
          </a:p>
        </p:txBody>
      </p:sp>
      <p:sp>
        <p:nvSpPr>
          <p:cNvPr id="5" name="Rectangle 4"/>
          <p:cNvSpPr/>
          <p:nvPr/>
        </p:nvSpPr>
        <p:spPr>
          <a:xfrm>
            <a:off x="548640" y="1188720"/>
            <a:ext cx="11094415" cy="1828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54880" cy="365760"/>
          </a:xfrm>
          <a:prstGeom prst="rect">
            <a:avLst/>
          </a:prstGeom>
          <a:noFill/>
        </p:spPr>
        <p:txBody>
          <a:bodyPr wrap="square" lIns="0" tIns="0" rIns="0" bIns="0">
            <a:spAutoFit/>
          </a:bodyPr>
          <a:lstStyle/>
          <a:p>
            <a:pPr algn="l">
              <a:defRPr sz="1800" b="1">
                <a:solidFill>
                  <a:srgbClr val="0284C7"/>
                </a:solidFill>
                <a:latin typeface="Calibri"/>
              </a:defRPr>
            </a:pPr>
            <a:r>
              <a:t>KEY SYSTEM FEATURES</a:t>
            </a:r>
          </a:p>
        </p:txBody>
      </p:sp>
      <p:sp>
        <p:nvSpPr>
          <p:cNvPr id="9" name="TextBox 8"/>
          <p:cNvSpPr txBox="1"/>
          <p:nvPr/>
        </p:nvSpPr>
        <p:spPr>
          <a:xfrm>
            <a:off x="822960" y="2377440"/>
            <a:ext cx="4754880" cy="3657600"/>
          </a:xfrm>
          <a:prstGeom prst="rect">
            <a:avLst/>
          </a:prstGeom>
          <a:noFill/>
        </p:spPr>
        <p:txBody>
          <a:bodyPr wrap="square" lIns="0" tIns="0" rIns="0" bIns="0">
            <a:spAutoFit/>
          </a:bodyPr>
          <a:lstStyle/>
          <a:p>
            <a:pPr>
              <a:defRPr sz="1300">
                <a:solidFill>
                  <a:srgbClr val="0F172A"/>
                </a:solidFill>
                <a:latin typeface="Calibri"/>
              </a:defRPr>
            </a:pPr>
            <a:r>
              <a:t>• 101+ dynamic products categorised in 5 sectors.</a:t>
            </a:r>
          </a:p>
          <a:p>
            <a:pPr>
              <a:defRPr sz="1300">
                <a:solidFill>
                  <a:srgbClr val="0F172A"/>
                </a:solidFill>
                <a:latin typeface="Calibri"/>
              </a:defRPr>
            </a:pPr>
            <a:r>
              <a:t>• Interactive AI Leaf Pathology Diagnostics ready for deployment.</a:t>
            </a:r>
          </a:p>
          <a:p>
            <a:pPr>
              <a:defRPr sz="1300">
                <a:solidFill>
                  <a:srgbClr val="0F172A"/>
                </a:solidFill>
                <a:latin typeface="Calibri"/>
              </a:defRPr>
            </a:pPr>
            <a:r>
              <a:t>• Validation-heavy dealer application form structure.</a:t>
            </a:r>
          </a:p>
          <a:p>
            <a:pPr>
              <a:defRPr sz="1300">
                <a:solidFill>
                  <a:srgbClr val="0F172A"/>
                </a:solidFill>
                <a:latin typeface="Calibri"/>
              </a:defRPr>
            </a:pPr>
            <a:r>
              <a:t>• Bilingual English/Hindi localization configuration.</a:t>
            </a:r>
          </a:p>
          <a:p>
            <a:pPr>
              <a:defRPr sz="1300">
                <a:solidFill>
                  <a:srgbClr val="0F172A"/>
                </a:solidFill>
                <a:latin typeface="Calibri"/>
              </a:defRPr>
            </a:pPr>
            <a:r>
              <a:t>• Admin CMS for direct, code-free catalog modifications.</a:t>
            </a:r>
          </a:p>
        </p:txBody>
      </p:sp>
      <p:sp>
        <p:nvSpPr>
          <p:cNvPr id="10" name="Rounded Rectangle 9"/>
          <p:cNvSpPr/>
          <p:nvPr/>
        </p:nvSpPr>
        <p:spPr>
          <a:xfrm>
            <a:off x="6272784" y="1700784"/>
            <a:ext cx="53035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64592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28800"/>
            <a:ext cx="4754880" cy="365760"/>
          </a:xfrm>
          <a:prstGeom prst="rect">
            <a:avLst/>
          </a:prstGeom>
          <a:noFill/>
        </p:spPr>
        <p:txBody>
          <a:bodyPr wrap="square" lIns="0" tIns="0" rIns="0" bIns="0">
            <a:spAutoFit/>
          </a:bodyPr>
          <a:lstStyle/>
          <a:p>
            <a:pPr algn="l">
              <a:defRPr sz="1800" b="1">
                <a:solidFill>
                  <a:srgbClr val="15803D"/>
                </a:solidFill>
                <a:latin typeface="Calibri"/>
              </a:defRPr>
            </a:pPr>
            <a:r>
              <a:t>BUSINESS &amp; STRATEGIC IMPACTS</a:t>
            </a:r>
          </a:p>
        </p:txBody>
      </p:sp>
      <p:sp>
        <p:nvSpPr>
          <p:cNvPr id="13" name="TextBox 12"/>
          <p:cNvSpPr txBox="1"/>
          <p:nvPr/>
        </p:nvSpPr>
        <p:spPr>
          <a:xfrm>
            <a:off x="6492240" y="2377440"/>
            <a:ext cx="4754880" cy="3657600"/>
          </a:xfrm>
          <a:prstGeom prst="rect">
            <a:avLst/>
          </a:prstGeom>
          <a:noFill/>
        </p:spPr>
        <p:txBody>
          <a:bodyPr wrap="square" lIns="0" tIns="0" rIns="0" bIns="0">
            <a:spAutoFit/>
          </a:bodyPr>
          <a:lstStyle/>
          <a:p>
            <a:pPr>
              <a:defRPr sz="1300">
                <a:solidFill>
                  <a:srgbClr val="0F172A"/>
                </a:solidFill>
                <a:latin typeface="Calibri"/>
              </a:defRPr>
            </a:pPr>
            <a:r>
              <a:t>• Accelerates onboarding of verified B2B dealers.</a:t>
            </a:r>
          </a:p>
          <a:p>
            <a:pPr>
              <a:defRPr sz="1300">
                <a:solidFill>
                  <a:srgbClr val="0F172A"/>
                </a:solidFill>
                <a:latin typeface="Calibri"/>
              </a:defRPr>
            </a:pPr>
            <a:r>
              <a:t>• Reduces technical inquiries through offline PDF catalogs.</a:t>
            </a:r>
          </a:p>
          <a:p>
            <a:pPr>
              <a:defRPr sz="1300">
                <a:solidFill>
                  <a:srgbClr val="0F172A"/>
                </a:solidFill>
                <a:latin typeface="Calibri"/>
              </a:defRPr>
            </a:pPr>
            <a:r>
              <a:t>• Positions Dr. Chemistar as a technology-first leader in agriculture.</a:t>
            </a:r>
          </a:p>
          <a:p>
            <a:pPr>
              <a:defRPr sz="1300">
                <a:solidFill>
                  <a:srgbClr val="0F172A"/>
                </a:solidFill>
                <a:latin typeface="Calibri"/>
              </a:defRPr>
            </a:pPr>
            <a:r>
              <a:t>• Centralizes dealer applications and enquiries in a secure cloud DB.</a:t>
            </a:r>
          </a:p>
          <a:p>
            <a:pPr>
              <a:defRPr sz="1300">
                <a:solidFill>
                  <a:srgbClr val="0F172A"/>
                </a:solidFill>
                <a:latin typeface="Calibri"/>
              </a:defRPr>
            </a:pPr>
            <a:r>
              <a:t>• Establishes a solid framework for future digital sales operations.</a:t>
            </a:r>
          </a:p>
        </p:txBody>
      </p:sp>
    </p:spTree>
  </p:cSld>
  <p:transition>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4723790" y="1097280"/>
            <a:ext cx="1860493" cy="1097280"/>
          </a:xfrm>
          <a:prstGeom prst="rect">
            <a:avLst/>
          </a:prstGeom>
        </p:spPr>
      </p:pic>
      <p:sp>
        <p:nvSpPr>
          <p:cNvPr id="4" name="TextBox 3"/>
          <p:cNvSpPr txBox="1"/>
          <p:nvPr/>
        </p:nvSpPr>
        <p:spPr>
          <a:xfrm>
            <a:off x="548640" y="2468880"/>
            <a:ext cx="11094415" cy="548640"/>
          </a:xfrm>
          <a:prstGeom prst="rect">
            <a:avLst/>
          </a:prstGeom>
          <a:noFill/>
        </p:spPr>
        <p:txBody>
          <a:bodyPr wrap="square" lIns="0" tIns="0" rIns="0" bIns="0">
            <a:spAutoFit/>
          </a:bodyPr>
          <a:lstStyle/>
          <a:p>
            <a:pPr algn="ctr">
              <a:defRPr sz="3600" b="1">
                <a:solidFill>
                  <a:srgbClr val="FFFFFF"/>
                </a:solidFill>
                <a:latin typeface="Segoe UI"/>
              </a:defRPr>
            </a:pPr>
            <a:r>
              <a:t>THANK YOU</a:t>
            </a:r>
          </a:p>
        </p:txBody>
      </p:sp>
      <p:sp>
        <p:nvSpPr>
          <p:cNvPr id="5" name="TextBox 4"/>
          <p:cNvSpPr txBox="1"/>
          <p:nvPr/>
        </p:nvSpPr>
        <p:spPr>
          <a:xfrm>
            <a:off x="548640" y="3017520"/>
            <a:ext cx="11094415" cy="365760"/>
          </a:xfrm>
          <a:prstGeom prst="rect">
            <a:avLst/>
          </a:prstGeom>
          <a:noFill/>
        </p:spPr>
        <p:txBody>
          <a:bodyPr wrap="square" lIns="0" tIns="0" rIns="0" bIns="0">
            <a:spAutoFit/>
          </a:bodyPr>
          <a:lstStyle/>
          <a:p>
            <a:pPr algn="ctr">
              <a:defRPr sz="1600" b="1">
                <a:solidFill>
                  <a:srgbClr val="15803D"/>
                </a:solidFill>
                <a:latin typeface="Calibri"/>
              </a:defRPr>
            </a:pPr>
            <a:r>
              <a:t>Happy Farmers...... Happy World.....</a:t>
            </a:r>
          </a:p>
        </p:txBody>
      </p:sp>
      <p:sp>
        <p:nvSpPr>
          <p:cNvPr id="6" name="Rectangle 5"/>
          <p:cNvSpPr/>
          <p:nvPr/>
        </p:nvSpPr>
        <p:spPr>
          <a:xfrm>
            <a:off x="4261104" y="3566160"/>
            <a:ext cx="3657600" cy="1828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32304" y="3895344"/>
            <a:ext cx="7436815"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77440" y="3840480"/>
            <a:ext cx="7436815" cy="210312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4023360"/>
            <a:ext cx="7071055" cy="274320"/>
          </a:xfrm>
          <a:prstGeom prst="rect">
            <a:avLst/>
          </a:prstGeom>
          <a:noFill/>
        </p:spPr>
        <p:txBody>
          <a:bodyPr wrap="square" lIns="0" tIns="0" rIns="0" bIns="0">
            <a:spAutoFit/>
          </a:bodyPr>
          <a:lstStyle/>
          <a:p>
            <a:pPr algn="ctr">
              <a:defRPr sz="1400" b="1">
                <a:solidFill>
                  <a:srgbClr val="FFFFFF"/>
                </a:solidFill>
                <a:latin typeface="Calibri"/>
              </a:defRPr>
            </a:pPr>
            <a:r>
              <a:t>Dr. CHEMISTAR Crop Care Pvt. Ltd.</a:t>
            </a:r>
          </a:p>
        </p:txBody>
      </p:sp>
      <p:sp>
        <p:nvSpPr>
          <p:cNvPr id="10" name="TextBox 9"/>
          <p:cNvSpPr txBox="1"/>
          <p:nvPr/>
        </p:nvSpPr>
        <p:spPr>
          <a:xfrm>
            <a:off x="2560320" y="4389120"/>
            <a:ext cx="7071055" cy="274320"/>
          </a:xfrm>
          <a:prstGeom prst="rect">
            <a:avLst/>
          </a:prstGeom>
          <a:noFill/>
        </p:spPr>
        <p:txBody>
          <a:bodyPr wrap="square" lIns="0" tIns="0" rIns="0" bIns="0">
            <a:spAutoFit/>
          </a:bodyPr>
          <a:lstStyle/>
          <a:p>
            <a:pPr algn="ctr">
              <a:defRPr sz="1100" b="0">
                <a:solidFill>
                  <a:srgbClr val="64748B"/>
                </a:solidFill>
                <a:latin typeface="Calibri"/>
              </a:defRPr>
            </a:pPr>
            <a:r>
              <a:t>Email: drchemistarcrop@gmail.com   |   Customer Care: +91 6351 250 285</a:t>
            </a:r>
          </a:p>
        </p:txBody>
      </p:sp>
      <p:sp>
        <p:nvSpPr>
          <p:cNvPr id="11" name="TextBox 10"/>
          <p:cNvSpPr txBox="1"/>
          <p:nvPr/>
        </p:nvSpPr>
        <p:spPr>
          <a:xfrm>
            <a:off x="2560320" y="4754880"/>
            <a:ext cx="7071055" cy="457200"/>
          </a:xfrm>
          <a:prstGeom prst="rect">
            <a:avLst/>
          </a:prstGeom>
          <a:noFill/>
        </p:spPr>
        <p:txBody>
          <a:bodyPr wrap="square" lIns="0" tIns="0" rIns="0" bIns="0">
            <a:spAutoFit/>
          </a:bodyPr>
          <a:lstStyle/>
          <a:p>
            <a:pPr algn="ctr">
              <a:defRPr sz="1100" b="0">
                <a:solidFill>
                  <a:srgbClr val="64748B"/>
                </a:solidFill>
                <a:latin typeface="Calibri"/>
              </a:defRPr>
            </a:pPr>
            <a:r>
              <a:t>Head Office: Survey No. 664, Plot No. 17, Sopan Industrial Zone, Rajkot, Gujarat</a:t>
            </a:r>
          </a:p>
        </p:txBody>
      </p:sp>
      <p:sp>
        <p:nvSpPr>
          <p:cNvPr id="12" name="TextBox 11"/>
          <p:cNvSpPr txBox="1"/>
          <p:nvPr/>
        </p:nvSpPr>
        <p:spPr>
          <a:xfrm>
            <a:off x="2560320" y="5303520"/>
            <a:ext cx="7071055" cy="274320"/>
          </a:xfrm>
          <a:prstGeom prst="rect">
            <a:avLst/>
          </a:prstGeom>
          <a:noFill/>
        </p:spPr>
        <p:txBody>
          <a:bodyPr wrap="square" lIns="0" tIns="0" rIns="0" bIns="0">
            <a:spAutoFit/>
          </a:bodyPr>
          <a:lstStyle/>
          <a:p>
            <a:pPr algn="ctr">
              <a:defRPr sz="1200" b="1">
                <a:solidFill>
                  <a:srgbClr val="0284C7"/>
                </a:solidFill>
                <a:latin typeface="Calibri"/>
              </a:defRPr>
            </a:pPr>
            <a:r>
              <a:t>Website: www.drchemistar.com</a:t>
            </a:r>
          </a:p>
        </p:txBody>
      </p:sp>
    </p:spTree>
  </p:cSld>
  <p:transition>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